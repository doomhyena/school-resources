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53" r:id="rId3"/>
    <p:sldMasterId id="2147483655" r:id="rId4"/>
    <p:sldMasterId id="2147483657" r:id="rId5"/>
  </p:sldMasterIdLst>
  <p:sldIdLst>
    <p:sldId id="256" r:id="rId6"/>
    <p:sldId id="257" r:id="rId7"/>
    <p:sldId id="268" r:id="rId8"/>
    <p:sldId id="269" r:id="rId9"/>
    <p:sldId id="258" r:id="rId10"/>
    <p:sldId id="259" r:id="rId11"/>
    <p:sldId id="260" r:id="rId12"/>
    <p:sldId id="261" r:id="rId13"/>
    <p:sldId id="262" r:id="rId14"/>
    <p:sldId id="270" r:id="rId15"/>
    <p:sldId id="271" r:id="rId16"/>
    <p:sldId id="274" r:id="rId17"/>
    <p:sldId id="263" r:id="rId18"/>
    <p:sldId id="264" r:id="rId19"/>
    <p:sldId id="265" r:id="rId20"/>
    <p:sldId id="266" r:id="rId21"/>
    <p:sldId id="275" r:id="rId22"/>
    <p:sldId id="276" r:id="rId23"/>
    <p:sldId id="267" r:id="rId24"/>
  </p:sldIdLst>
  <p:sldSz cx="10080625" cy="5670550"/>
  <p:notesSz cx="7559675" cy="10691813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6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0000" cy="159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hu-HU" sz="56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7680" y="4148640"/>
            <a:ext cx="8984520" cy="171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>
              <a:spcAft>
                <a:spcPts val="1182"/>
              </a:spcAft>
              <a:buNone/>
            </a:pPr>
            <a:endParaRPr lang="hu-H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3EE0A37-CDA8-4119-8EDE-32DEA59A95E0}" type="slidenum">
              <a:t>‹#›</a:t>
            </a:fld>
            <a:endParaRPr/>
          </a:p>
        </p:txBody>
      </p:sp>
      <p:sp>
        <p:nvSpPr>
          <p:cNvPr id="2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0000" cy="159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hu-HU" sz="56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607680" y="4148640"/>
            <a:ext cx="8984520" cy="171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hu-H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19D6D54-23EF-485C-8781-172B67840B2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tandar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0000" cy="159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hu-HU" sz="56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7680" y="4148640"/>
            <a:ext cx="8984520" cy="171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>
              <a:spcAft>
                <a:spcPts val="1182"/>
              </a:spcAft>
              <a:buNone/>
            </a:pPr>
            <a:endParaRPr lang="hu-H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20C4A36-F351-4405-B005-1D65C9C02EE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0000" cy="159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hu-HU" sz="56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7680" y="4148640"/>
            <a:ext cx="8984520" cy="171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>
              <a:spcAft>
                <a:spcPts val="1182"/>
              </a:spcAft>
              <a:buNone/>
            </a:pPr>
            <a:endParaRPr lang="hu-H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CC05826A-07A0-48C3-9AB7-849DA69A0D3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tandar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0000" cy="159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hu-HU" sz="56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607680" y="4148640"/>
            <a:ext cx="8984520" cy="171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>
              <a:spcAft>
                <a:spcPts val="1182"/>
              </a:spcAft>
              <a:buNone/>
            </a:pPr>
            <a:endParaRPr lang="hu-H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AC79A9D-D92D-46E1-A4A4-0991C4ABA16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tandard 2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0000" cy="159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hu-HU" sz="56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07680" y="4148640"/>
            <a:ext cx="8984520" cy="171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>
              <a:spcAft>
                <a:spcPts val="1182"/>
              </a:spcAft>
              <a:buNone/>
            </a:pPr>
            <a:endParaRPr lang="hu-H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98A10B9F-CDAA-43C7-82EA-D061B1F15DC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zabadkézi sokszög: alakzat 5"/>
          <p:cNvSpPr/>
          <p:nvPr/>
        </p:nvSpPr>
        <p:spPr>
          <a:xfrm>
            <a:off x="0" y="0"/>
            <a:ext cx="10080360" cy="4251960"/>
          </a:xfrm>
          <a:custGeom>
            <a:avLst/>
            <a:gdLst/>
            <a:ahLst/>
            <a:cxnLst/>
            <a:rect l="0" t="0" r="r" b="b"/>
            <a:pathLst>
              <a:path w="28001" h="11811">
                <a:moveTo>
                  <a:pt x="0" y="11811"/>
                </a:moveTo>
                <a:lnTo>
                  <a:pt x="0" y="0"/>
                </a:lnTo>
                <a:lnTo>
                  <a:pt x="28001" y="0"/>
                </a:lnTo>
                <a:lnTo>
                  <a:pt x="28001" y="7811"/>
                </a:lnTo>
                <a:lnTo>
                  <a:pt x="0" y="11811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txBody>
          <a:bodyPr lIns="90000" tIns="45000" rIns="90000" bIns="45000" anchor="ctr">
            <a:noAutofit/>
          </a:bodyPr>
          <a:lstStyle/>
          <a:p>
            <a:pPr algn="ctr"/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 rot="21111000">
            <a:off x="488160" y="2604600"/>
            <a:ext cx="9000000" cy="95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hu-HU" sz="5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Címszöveg formátumának szerkesztése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 rot="21111000">
            <a:off x="683640" y="3502800"/>
            <a:ext cx="8984520" cy="171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algn="ctr">
              <a:spcAft>
                <a:spcPts val="118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7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Vázlatszöveg formátumának szerkesztése</a:t>
            </a:r>
          </a:p>
          <a:p>
            <a:pPr marL="432000" lvl="1" indent="-216000">
              <a:spcAft>
                <a:spcPts val="85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1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Második vázlatszint</a:t>
            </a:r>
          </a:p>
          <a:p>
            <a:pPr marL="648000" lvl="2" indent="-216000">
              <a:spcAft>
                <a:spcPts val="638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Harmadik vázlatszint</a:t>
            </a:r>
          </a:p>
          <a:p>
            <a:pPr marL="864000" lvl="3" indent="-216000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Negyedik vázlatszint</a:t>
            </a:r>
          </a:p>
          <a:p>
            <a:pPr marL="1080000" lvl="4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Ötödik vázlatszint</a:t>
            </a:r>
          </a:p>
          <a:p>
            <a:pPr marL="1296000" lvl="5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Hatodik vázlatszint</a:t>
            </a:r>
          </a:p>
          <a:p>
            <a:pPr marL="1512000" lvl="6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Hetedik vázlatszint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7019640" y="4913640"/>
            <a:ext cx="288000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&lt;dátum/idő&gt;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5579640" y="5129640"/>
            <a:ext cx="432000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&lt;élőláb&gt;</a:t>
            </a: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379640" y="4589640"/>
            <a:ext cx="252000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hu-HU" sz="26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A5FBCFF4-CF5F-4A5F-89D3-3CBB8EF027CD}" type="slidenum">
              <a:rPr lang="hu-HU" sz="2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zabadkézi sokszög: alakzat 9"/>
          <p:cNvSpPr/>
          <p:nvPr/>
        </p:nvSpPr>
        <p:spPr>
          <a:xfrm>
            <a:off x="1098000" y="4392000"/>
            <a:ext cx="8982360" cy="1278360"/>
          </a:xfrm>
          <a:custGeom>
            <a:avLst/>
            <a:gdLst/>
            <a:ahLst/>
            <a:cxnLst/>
            <a:rect l="0" t="0" r="r" b="b"/>
            <a:pathLst>
              <a:path w="24951" h="3551">
                <a:moveTo>
                  <a:pt x="0" y="3551"/>
                </a:moveTo>
                <a:lnTo>
                  <a:pt x="24950" y="3550"/>
                </a:lnTo>
                <a:lnTo>
                  <a:pt x="24951" y="0"/>
                </a:lnTo>
                <a:lnTo>
                  <a:pt x="0" y="3551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txBody>
          <a:bodyPr lIns="90000" tIns="45000" rIns="90000" bIns="45000" anchor="ctr">
            <a:noAutofit/>
          </a:bodyPr>
          <a:lstStyle/>
          <a:p>
            <a:pPr algn="ctr"/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zabadkézi sokszög: alakzat 10"/>
          <p:cNvSpPr/>
          <p:nvPr/>
        </p:nvSpPr>
        <p:spPr>
          <a:xfrm>
            <a:off x="0" y="0"/>
            <a:ext cx="10080360" cy="1509120"/>
          </a:xfrm>
          <a:custGeom>
            <a:avLst/>
            <a:gdLst/>
            <a:ahLst/>
            <a:cxnLst/>
            <a:rect l="0" t="0" r="r" b="b"/>
            <a:pathLst>
              <a:path w="28001" h="4192">
                <a:moveTo>
                  <a:pt x="0" y="4192"/>
                </a:moveTo>
                <a:lnTo>
                  <a:pt x="0" y="0"/>
                </a:lnTo>
                <a:lnTo>
                  <a:pt x="28001" y="0"/>
                </a:lnTo>
                <a:lnTo>
                  <a:pt x="28001" y="191"/>
                </a:lnTo>
                <a:lnTo>
                  <a:pt x="0" y="4192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txBody>
          <a:bodyPr lIns="90000" tIns="45000" rIns="90000" bIns="45000" anchor="ctr">
            <a:noAutofit/>
          </a:bodyPr>
          <a:lstStyle/>
          <a:p>
            <a:pPr algn="ctr"/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 rot="21111000">
            <a:off x="90000" y="-158760"/>
            <a:ext cx="9000000" cy="95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hu-HU" sz="3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Címszöveg formátumának szerkesztése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4000" y="151524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algn="just">
              <a:spcAft>
                <a:spcPts val="856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Vázlatszöveg formátumának szerkesztése</a:t>
            </a:r>
          </a:p>
          <a:p>
            <a:pPr marL="432000" lvl="1" indent="-216000">
              <a:spcAft>
                <a:spcPts val="85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Második vázlatszint</a:t>
            </a:r>
          </a:p>
          <a:p>
            <a:pPr marL="648000" lvl="2" indent="-216000">
              <a:spcAft>
                <a:spcPts val="638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Harmadik vázlatszint</a:t>
            </a:r>
          </a:p>
          <a:p>
            <a:pPr marL="864000" lvl="3" indent="-216000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Negyedik vázlatszint</a:t>
            </a:r>
          </a:p>
          <a:p>
            <a:pPr marL="1080000" lvl="4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Ötödik vázlatszint</a:t>
            </a:r>
          </a:p>
          <a:p>
            <a:pPr marL="1296000" lvl="5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Hatodik vázlatszint</a:t>
            </a:r>
          </a:p>
          <a:p>
            <a:pPr marL="1512000" lvl="6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Hetedik vázlatszint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dt" idx="4"/>
          </p:nvPr>
        </p:nvSpPr>
        <p:spPr>
          <a:xfrm>
            <a:off x="7019640" y="4913640"/>
            <a:ext cx="288000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&lt;dátum/idő&gt;</a:t>
            </a:r>
          </a:p>
        </p:txBody>
      </p:sp>
      <p:sp>
        <p:nvSpPr>
          <p:cNvPr id="15" name="PlaceHolder 4"/>
          <p:cNvSpPr>
            <a:spLocks noGrp="1"/>
          </p:cNvSpPr>
          <p:nvPr>
            <p:ph type="ftr" idx="5"/>
          </p:nvPr>
        </p:nvSpPr>
        <p:spPr>
          <a:xfrm>
            <a:off x="5579640" y="5129640"/>
            <a:ext cx="432000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&lt;élőláb&gt;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sldNum" idx="6"/>
          </p:nvPr>
        </p:nvSpPr>
        <p:spPr>
          <a:xfrm>
            <a:off x="7379640" y="4589640"/>
            <a:ext cx="252000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hu-HU" sz="26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3DFBE90F-BF64-470E-8BF2-DE75C77727E0}" type="slidenum">
              <a:rPr lang="hu-HU" sz="2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zabadkézi sokszög: alakzat 18"/>
          <p:cNvSpPr/>
          <p:nvPr/>
        </p:nvSpPr>
        <p:spPr>
          <a:xfrm>
            <a:off x="1098000" y="4392000"/>
            <a:ext cx="8982360" cy="1278360"/>
          </a:xfrm>
          <a:custGeom>
            <a:avLst/>
            <a:gdLst/>
            <a:ahLst/>
            <a:cxnLst/>
            <a:rect l="0" t="0" r="r" b="b"/>
            <a:pathLst>
              <a:path w="24951" h="3551">
                <a:moveTo>
                  <a:pt x="0" y="3551"/>
                </a:moveTo>
                <a:lnTo>
                  <a:pt x="24950" y="3550"/>
                </a:lnTo>
                <a:lnTo>
                  <a:pt x="24951" y="0"/>
                </a:lnTo>
                <a:lnTo>
                  <a:pt x="0" y="3551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txBody>
          <a:bodyPr lIns="90000" tIns="45000" rIns="90000" bIns="45000" anchor="ctr">
            <a:noAutofit/>
          </a:bodyPr>
          <a:lstStyle/>
          <a:p>
            <a:pPr algn="ctr"/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zabadkézi sokszög: alakzat 19"/>
          <p:cNvSpPr/>
          <p:nvPr/>
        </p:nvSpPr>
        <p:spPr>
          <a:xfrm>
            <a:off x="0" y="414000"/>
            <a:ext cx="10080360" cy="5256360"/>
          </a:xfrm>
          <a:custGeom>
            <a:avLst/>
            <a:gdLst/>
            <a:ahLst/>
            <a:cxnLst/>
            <a:rect l="0" t="0" r="r" b="b"/>
            <a:pathLst>
              <a:path w="28001" h="14601">
                <a:moveTo>
                  <a:pt x="0" y="14601"/>
                </a:moveTo>
                <a:lnTo>
                  <a:pt x="508" y="14601"/>
                </a:lnTo>
                <a:lnTo>
                  <a:pt x="28001" y="10664"/>
                </a:lnTo>
                <a:lnTo>
                  <a:pt x="28001" y="0"/>
                </a:lnTo>
                <a:lnTo>
                  <a:pt x="0" y="3999"/>
                </a:lnTo>
                <a:lnTo>
                  <a:pt x="0" y="14601"/>
                </a:lnTo>
                <a:close/>
              </a:path>
            </a:pathLst>
          </a:custGeom>
          <a:solidFill>
            <a:srgbClr val="B2B2B2"/>
          </a:solidFill>
          <a:ln w="10800">
            <a:solidFill>
              <a:srgbClr val="999999"/>
            </a:solidFill>
            <a:round/>
          </a:ln>
        </p:spPr>
        <p:txBody>
          <a:bodyPr lIns="90000" tIns="45000" rIns="90000" bIns="45000" anchor="ctr">
            <a:noAutofit/>
          </a:bodyPr>
          <a:lstStyle/>
          <a:p>
            <a:pPr algn="ctr"/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zabadkézi sokszög: alakzat 20"/>
          <p:cNvSpPr/>
          <p:nvPr/>
        </p:nvSpPr>
        <p:spPr>
          <a:xfrm>
            <a:off x="0" y="0"/>
            <a:ext cx="10080360" cy="1714680"/>
          </a:xfrm>
          <a:custGeom>
            <a:avLst/>
            <a:gdLst/>
            <a:ahLst/>
            <a:cxnLst/>
            <a:rect l="0" t="0" r="r" b="b"/>
            <a:pathLst>
              <a:path w="28001" h="4763">
                <a:moveTo>
                  <a:pt x="1" y="4763"/>
                </a:moveTo>
                <a:lnTo>
                  <a:pt x="0" y="0"/>
                </a:lnTo>
                <a:lnTo>
                  <a:pt x="28000" y="0"/>
                </a:lnTo>
                <a:lnTo>
                  <a:pt x="28001" y="762"/>
                </a:lnTo>
                <a:lnTo>
                  <a:pt x="1" y="4763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txBody>
          <a:bodyPr lIns="90000" tIns="45000" rIns="90000" bIns="45000" anchor="ctr">
            <a:noAutofit/>
          </a:bodyPr>
          <a:lstStyle/>
          <a:p>
            <a:pPr algn="ctr"/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 rot="21111000">
            <a:off x="92160" y="67320"/>
            <a:ext cx="9000000" cy="95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hu-HU" sz="3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Címszöveg formátumának szerkesztése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3640" y="1785240"/>
            <a:ext cx="887004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algn="just">
              <a:spcAft>
                <a:spcPts val="859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Vázlatszöveg formátumának szerkesztése</a:t>
            </a:r>
          </a:p>
          <a:p>
            <a:pPr marL="432000" lvl="1" indent="-216000">
              <a:spcAft>
                <a:spcPts val="85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Második vázlatszint</a:t>
            </a:r>
          </a:p>
          <a:p>
            <a:pPr marL="648000" lvl="2" indent="-216000">
              <a:spcAft>
                <a:spcPts val="638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Harmadik vázlatszint</a:t>
            </a:r>
          </a:p>
          <a:p>
            <a:pPr marL="864000" lvl="3" indent="-216000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Negyedik vázlatszint</a:t>
            </a:r>
          </a:p>
          <a:p>
            <a:pPr marL="1080000" lvl="4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Ötödik vázlatszint</a:t>
            </a:r>
          </a:p>
          <a:p>
            <a:pPr marL="1296000" lvl="5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Hatodik vázlatszint</a:t>
            </a:r>
          </a:p>
          <a:p>
            <a:pPr marL="1512000" lvl="6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Hetedik vázlatszint</a:t>
            </a:r>
          </a:p>
        </p:txBody>
      </p:sp>
      <p:sp>
        <p:nvSpPr>
          <p:cNvPr id="24" name="PlaceHolder 3"/>
          <p:cNvSpPr>
            <a:spLocks noGrp="1"/>
          </p:cNvSpPr>
          <p:nvPr>
            <p:ph type="dt" idx="7"/>
          </p:nvPr>
        </p:nvSpPr>
        <p:spPr>
          <a:xfrm>
            <a:off x="7019640" y="4913640"/>
            <a:ext cx="288000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&lt;dátum/idő&gt;</a:t>
            </a:r>
          </a:p>
        </p:txBody>
      </p:sp>
      <p:sp>
        <p:nvSpPr>
          <p:cNvPr id="25" name="PlaceHolder 4"/>
          <p:cNvSpPr>
            <a:spLocks noGrp="1"/>
          </p:cNvSpPr>
          <p:nvPr>
            <p:ph type="ftr" idx="8"/>
          </p:nvPr>
        </p:nvSpPr>
        <p:spPr>
          <a:xfrm>
            <a:off x="5579640" y="5129640"/>
            <a:ext cx="432000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&lt;élőláb&gt;</a:t>
            </a:r>
          </a:p>
        </p:txBody>
      </p:sp>
      <p:sp>
        <p:nvSpPr>
          <p:cNvPr id="26" name="PlaceHolder 5"/>
          <p:cNvSpPr>
            <a:spLocks noGrp="1"/>
          </p:cNvSpPr>
          <p:nvPr>
            <p:ph type="sldNum" idx="9"/>
          </p:nvPr>
        </p:nvSpPr>
        <p:spPr>
          <a:xfrm>
            <a:off x="7379640" y="4589640"/>
            <a:ext cx="252000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hu-HU" sz="26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6B3B8BD1-0D95-4EF0-9009-C1B510D39CE5}" type="slidenum">
              <a:rPr lang="hu-HU" sz="2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zabadkézi sokszög: alakzat 28"/>
          <p:cNvSpPr/>
          <p:nvPr/>
        </p:nvSpPr>
        <p:spPr>
          <a:xfrm>
            <a:off x="0" y="0"/>
            <a:ext cx="10080360" cy="2468880"/>
          </a:xfrm>
          <a:custGeom>
            <a:avLst/>
            <a:gdLst/>
            <a:ahLst/>
            <a:cxnLst/>
            <a:rect l="0" t="0" r="r" b="b"/>
            <a:pathLst>
              <a:path w="28001" h="6858">
                <a:moveTo>
                  <a:pt x="0" y="6858"/>
                </a:moveTo>
                <a:lnTo>
                  <a:pt x="0" y="0"/>
                </a:lnTo>
                <a:lnTo>
                  <a:pt x="28001" y="0"/>
                </a:lnTo>
                <a:lnTo>
                  <a:pt x="28001" y="2841"/>
                </a:lnTo>
                <a:lnTo>
                  <a:pt x="0" y="6858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txBody>
          <a:bodyPr lIns="90000" tIns="45000" rIns="90000" bIns="45000" anchor="ctr">
            <a:noAutofit/>
          </a:bodyPr>
          <a:lstStyle/>
          <a:p>
            <a:pPr algn="ctr"/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 rot="21111000">
            <a:off x="91080" y="741240"/>
            <a:ext cx="9000000" cy="95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hu-HU" sz="3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Címszöveg formátumának szerkesztése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dt" idx="10"/>
          </p:nvPr>
        </p:nvSpPr>
        <p:spPr>
          <a:xfrm>
            <a:off x="7019640" y="4913640"/>
            <a:ext cx="288000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&lt;dátum/idő&gt;</a:t>
            </a:r>
          </a:p>
        </p:txBody>
      </p:sp>
      <p:sp>
        <p:nvSpPr>
          <p:cNvPr id="32" name="PlaceHolder 3"/>
          <p:cNvSpPr>
            <a:spLocks noGrp="1"/>
          </p:cNvSpPr>
          <p:nvPr>
            <p:ph type="ftr" idx="11"/>
          </p:nvPr>
        </p:nvSpPr>
        <p:spPr>
          <a:xfrm>
            <a:off x="5579640" y="5129640"/>
            <a:ext cx="432000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&lt;élőláb&gt;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sldNum" idx="12"/>
          </p:nvPr>
        </p:nvSpPr>
        <p:spPr>
          <a:xfrm>
            <a:off x="7379640" y="4589640"/>
            <a:ext cx="252000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hu-HU" sz="26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6A4CF79E-0A19-4E8F-AA72-9BFE0435B8C0}" type="slidenum">
              <a:rPr lang="hu-HU" sz="2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églalap: lekerekített 33"/>
          <p:cNvSpPr/>
          <p:nvPr/>
        </p:nvSpPr>
        <p:spPr>
          <a:xfrm rot="20952000">
            <a:off x="224280" y="1917000"/>
            <a:ext cx="9402120" cy="2594160"/>
          </a:xfrm>
          <a:prstGeom prst="roundRect">
            <a:avLst>
              <a:gd name="adj" fmla="val 6298"/>
            </a:avLst>
          </a:prstGeom>
          <a:solidFill>
            <a:srgbClr val="B2B2B2"/>
          </a:solidFill>
          <a:ln w="10800">
            <a:solidFill>
              <a:srgbClr val="9999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zövegdoboz 34"/>
          <p:cNvSpPr txBox="1"/>
          <p:nvPr/>
        </p:nvSpPr>
        <p:spPr>
          <a:xfrm>
            <a:off x="273960" y="2759400"/>
            <a:ext cx="640080" cy="1225800"/>
          </a:xfrm>
          <a:prstGeom prst="rect">
            <a:avLst/>
          </a:prstGeom>
          <a:noFill/>
          <a:ln w="1080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hu-HU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“</a:t>
            </a:r>
          </a:p>
        </p:txBody>
      </p:sp>
      <p:sp>
        <p:nvSpPr>
          <p:cNvPr id="36" name="Szövegdoboz 35"/>
          <p:cNvSpPr txBox="1"/>
          <p:nvPr/>
        </p:nvSpPr>
        <p:spPr>
          <a:xfrm>
            <a:off x="9215640" y="3517560"/>
            <a:ext cx="640080" cy="1225800"/>
          </a:xfrm>
          <a:prstGeom prst="rect">
            <a:avLst/>
          </a:prstGeom>
          <a:noFill/>
          <a:ln w="1080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hu-HU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”</a:t>
            </a: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 rot="20952000">
            <a:off x="713880" y="1963800"/>
            <a:ext cx="8654400" cy="248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algn="just">
              <a:spcAft>
                <a:spcPts val="105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Vázlatszöveg formátumának szerkesztése</a:t>
            </a:r>
          </a:p>
          <a:p>
            <a:pPr marL="432000" lvl="1" indent="-216000">
              <a:spcAft>
                <a:spcPts val="85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1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Második vázlatszint</a:t>
            </a:r>
          </a:p>
          <a:p>
            <a:pPr marL="648000" lvl="2" indent="-216000">
              <a:spcAft>
                <a:spcPts val="638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Harmadik vázlatszint</a:t>
            </a:r>
          </a:p>
          <a:p>
            <a:pPr marL="864000" lvl="3" indent="-216000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Negyedik vázlatszint</a:t>
            </a:r>
          </a:p>
          <a:p>
            <a:pPr marL="1080000" lvl="4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Ötödik vázlatszint</a:t>
            </a:r>
          </a:p>
          <a:p>
            <a:pPr marL="1296000" lvl="5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Hatodik vázlatszint</a:t>
            </a:r>
          </a:p>
          <a:p>
            <a:pPr marL="1512000" lvl="6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Hetedik vázlatszint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zabadkézi sokszög: alakzat 39"/>
          <p:cNvSpPr/>
          <p:nvPr/>
        </p:nvSpPr>
        <p:spPr>
          <a:xfrm>
            <a:off x="0" y="0"/>
            <a:ext cx="10080360" cy="2468880"/>
          </a:xfrm>
          <a:custGeom>
            <a:avLst/>
            <a:gdLst/>
            <a:ahLst/>
            <a:cxnLst/>
            <a:rect l="0" t="0" r="r" b="b"/>
            <a:pathLst>
              <a:path w="28001" h="6858">
                <a:moveTo>
                  <a:pt x="0" y="6858"/>
                </a:moveTo>
                <a:lnTo>
                  <a:pt x="0" y="0"/>
                </a:lnTo>
                <a:lnTo>
                  <a:pt x="28001" y="0"/>
                </a:lnTo>
                <a:lnTo>
                  <a:pt x="28001" y="2841"/>
                </a:lnTo>
                <a:lnTo>
                  <a:pt x="0" y="6858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txBody>
          <a:bodyPr lIns="90000" tIns="45000" rIns="90000" bIns="45000" anchor="ctr">
            <a:noAutofit/>
          </a:bodyPr>
          <a:lstStyle/>
          <a:p>
            <a:pPr algn="ctr"/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 rot="21111000">
            <a:off x="91080" y="741240"/>
            <a:ext cx="9000000" cy="95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hu-HU" sz="3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Címszöveg formátumának szerkesztése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dt" idx="13"/>
          </p:nvPr>
        </p:nvSpPr>
        <p:spPr>
          <a:xfrm>
            <a:off x="7019640" y="4913640"/>
            <a:ext cx="288000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&lt;dátum/idő&gt;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ftr" idx="14"/>
          </p:nvPr>
        </p:nvSpPr>
        <p:spPr>
          <a:xfrm>
            <a:off x="5579640" y="5129640"/>
            <a:ext cx="432000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&lt;élőláb&gt;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sldNum" idx="15"/>
          </p:nvPr>
        </p:nvSpPr>
        <p:spPr>
          <a:xfrm>
            <a:off x="7379640" y="4589640"/>
            <a:ext cx="252000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hu-HU" sz="26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6C856AC2-6D5A-4ECA-A813-6ED74D81D7C7}" type="slidenum">
              <a:rPr lang="hu-HU" sz="2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églalap: lekerekített 44"/>
          <p:cNvSpPr/>
          <p:nvPr/>
        </p:nvSpPr>
        <p:spPr>
          <a:xfrm rot="20952000">
            <a:off x="224280" y="1917000"/>
            <a:ext cx="9402120" cy="2594160"/>
          </a:xfrm>
          <a:prstGeom prst="roundRect">
            <a:avLst>
              <a:gd name="adj" fmla="val 6298"/>
            </a:avLst>
          </a:prstGeom>
          <a:solidFill>
            <a:srgbClr val="B2B2B2"/>
          </a:solidFill>
          <a:ln w="10800">
            <a:solidFill>
              <a:srgbClr val="9999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zövegdoboz 45"/>
          <p:cNvSpPr txBox="1"/>
          <p:nvPr/>
        </p:nvSpPr>
        <p:spPr>
          <a:xfrm>
            <a:off x="273960" y="2759400"/>
            <a:ext cx="640080" cy="1225800"/>
          </a:xfrm>
          <a:prstGeom prst="rect">
            <a:avLst/>
          </a:prstGeom>
          <a:noFill/>
          <a:ln w="1080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hu-HU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“</a:t>
            </a:r>
          </a:p>
        </p:txBody>
      </p:sp>
      <p:sp>
        <p:nvSpPr>
          <p:cNvPr id="47" name="Szövegdoboz 46"/>
          <p:cNvSpPr txBox="1"/>
          <p:nvPr/>
        </p:nvSpPr>
        <p:spPr>
          <a:xfrm>
            <a:off x="9215640" y="3517560"/>
            <a:ext cx="640080" cy="1225800"/>
          </a:xfrm>
          <a:prstGeom prst="rect">
            <a:avLst/>
          </a:prstGeom>
          <a:noFill/>
          <a:ln w="1080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hu-HU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”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 rot="20952000">
            <a:off x="713880" y="1963800"/>
            <a:ext cx="8654400" cy="248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algn="just">
              <a:spcAft>
                <a:spcPts val="105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Vázlatszöveg formátumának szerkesztése</a:t>
            </a:r>
          </a:p>
          <a:p>
            <a:pPr marL="864000" lvl="1" indent="-324000">
              <a:spcAft>
                <a:spcPts val="850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1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Második vázlatszint</a:t>
            </a:r>
          </a:p>
          <a:p>
            <a:pPr marL="1296000" lvl="2" indent="-288000">
              <a:spcAft>
                <a:spcPts val="638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Harmadik vázlatszint</a:t>
            </a:r>
          </a:p>
          <a:p>
            <a:pPr marL="1728000" lvl="3" indent="-216000">
              <a:spcAft>
                <a:spcPts val="42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Negyedik vázlatszint</a:t>
            </a:r>
          </a:p>
          <a:p>
            <a:pPr marL="2160000" lvl="4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Ötödik vázlatszint</a:t>
            </a:r>
          </a:p>
          <a:p>
            <a:pPr marL="2592000" lvl="5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Hatodik vázlatszint</a:t>
            </a:r>
          </a:p>
          <a:p>
            <a:pPr marL="3024000" lvl="6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Hetedik vázlatszint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 rot="21111000">
            <a:off x="488520" y="2286000"/>
            <a:ext cx="9000000" cy="159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hu-HU" sz="5600" b="1" u="none" strike="noStrike" dirty="0">
                <a:effectLst/>
                <a:uFillTx/>
                <a:latin typeface="Arial"/>
              </a:rPr>
              <a:t>Csontos Kincső – IKT </a:t>
            </a:r>
            <a:r>
              <a:rPr lang="hu-HU" sz="5600" b="1" u="none" strike="noStrike" dirty="0" err="1">
                <a:effectLst/>
                <a:uFillTx/>
                <a:latin typeface="Arial"/>
              </a:rPr>
              <a:t>ProjektMunka</a:t>
            </a:r>
            <a:endParaRPr lang="hu-HU" sz="5600" b="1" u="none" strike="noStrike" dirty="0">
              <a:effectLst/>
              <a:uFillTx/>
              <a:latin typeface="Arial"/>
            </a:endParaRPr>
          </a:p>
        </p:txBody>
      </p:sp>
      <p:sp>
        <p:nvSpPr>
          <p:cNvPr id="52" name="Szövegdoboz 51"/>
          <p:cNvSpPr txBox="1"/>
          <p:nvPr/>
        </p:nvSpPr>
        <p:spPr>
          <a:xfrm rot="21111000">
            <a:off x="605880" y="3508560"/>
            <a:ext cx="8984520" cy="619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algn="ctr"/>
            <a:fld id="{ADE8F826-C2DC-421C-89CB-CBBBD762CB60}" type="author">
              <a:rPr lang="hu-H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fld>
            <a:endParaRPr lang="hu-H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 rot="21111000">
            <a:off x="90000" y="68941"/>
            <a:ext cx="9000000" cy="4985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hu-HU" sz="3600" b="1" u="none" strike="noStrike" dirty="0" err="1">
                <a:effectLst/>
                <a:uFillTx/>
                <a:latin typeface="Arial"/>
              </a:rPr>
              <a:t>CodeMaster</a:t>
            </a:r>
            <a:r>
              <a:rPr lang="hu-HU" sz="3600" b="1" u="none" strike="noStrike" dirty="0">
                <a:effectLst/>
                <a:uFillTx/>
                <a:latin typeface="Arial"/>
              </a:rPr>
              <a:t> </a:t>
            </a:r>
            <a:r>
              <a:rPr lang="hu-HU" sz="3600" b="1" u="none" strike="noStrike" dirty="0" err="1">
                <a:effectLst/>
                <a:uFillTx/>
                <a:latin typeface="Arial"/>
              </a:rPr>
              <a:t>Academy</a:t>
            </a:r>
            <a:endParaRPr lang="hu-HU" sz="3600" b="1" u="none" strike="noStrike" dirty="0"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504000" y="151524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 algn="just">
              <a:spcAft>
                <a:spcPts val="856"/>
              </a:spcAft>
              <a:buNone/>
            </a:pPr>
            <a:r>
              <a:rPr lang="hu-HU" sz="2400" b="1" u="none" strike="noStrike" dirty="0">
                <a:effectLst/>
                <a:uFillTx/>
                <a:latin typeface="Arial"/>
              </a:rPr>
              <a:t>Mivel foglalkozik a cég?</a:t>
            </a:r>
            <a:endParaRPr lang="hu-HU" sz="2400" b="0" u="none" strike="noStrike" dirty="0">
              <a:effectLst/>
              <a:uFillTx/>
              <a:latin typeface="Arial"/>
            </a:endParaRPr>
          </a:p>
          <a:p>
            <a:pPr marL="432000" indent="-324000" algn="just">
              <a:spcAft>
                <a:spcPts val="856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 dirty="0">
                <a:effectLst/>
                <a:uFillTx/>
                <a:latin typeface="Arial"/>
              </a:rPr>
              <a:t>Online </a:t>
            </a:r>
            <a:r>
              <a:rPr lang="hu-HU" sz="2400" b="0" u="none" strike="noStrike" dirty="0" err="1">
                <a:effectLst/>
                <a:uFillTx/>
                <a:latin typeface="Arial"/>
              </a:rPr>
              <a:t>Kódólási</a:t>
            </a:r>
            <a:r>
              <a:rPr lang="hu-HU" sz="2400" b="0" u="none" strike="noStrike" dirty="0">
                <a:effectLst/>
                <a:uFillTx/>
                <a:latin typeface="Arial"/>
              </a:rPr>
              <a:t> </a:t>
            </a:r>
            <a:r>
              <a:rPr lang="hu-HU" sz="2400" b="0" u="none" strike="noStrike" dirty="0" err="1">
                <a:effectLst/>
                <a:uFillTx/>
                <a:latin typeface="Arial"/>
              </a:rPr>
              <a:t>Kurzosok</a:t>
            </a:r>
            <a:endParaRPr lang="hu-HU" sz="2400" b="0" u="none" strike="noStrike" dirty="0">
              <a:effectLst/>
              <a:uFillTx/>
              <a:latin typeface="Arial"/>
            </a:endParaRPr>
          </a:p>
          <a:p>
            <a:pPr marL="432000" indent="-324000" algn="just">
              <a:spcAft>
                <a:spcPts val="856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 dirty="0">
                <a:effectLst/>
                <a:uFillTx/>
                <a:latin typeface="Arial"/>
              </a:rPr>
              <a:t>Mentorálás</a:t>
            </a:r>
          </a:p>
          <a:p>
            <a:pPr marL="432000" indent="-324000" algn="just">
              <a:spcAft>
                <a:spcPts val="856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 dirty="0">
                <a:effectLst/>
                <a:uFillTx/>
                <a:latin typeface="Arial"/>
              </a:rPr>
              <a:t>Projektek és vizsgák</a:t>
            </a:r>
          </a:p>
          <a:p>
            <a:pPr marL="432000" indent="-324000" algn="just">
              <a:spcAft>
                <a:spcPts val="856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 dirty="0">
                <a:effectLst/>
                <a:uFillTx/>
                <a:latin typeface="Arial"/>
              </a:rPr>
              <a:t>Tanúsítványok kiadása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DECD862-B75E-4664-87EC-1BE0D635DA35}" type="slidenum">
              <a:rPr/>
              <a:t>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028C2-A268-BA0E-2D12-62DB14752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>
            <a:extLst>
              <a:ext uri="{FF2B5EF4-FFF2-40B4-BE49-F238E27FC236}">
                <a16:creationId xmlns:a16="http://schemas.microsoft.com/office/drawing/2014/main" id="{6E24650D-5E9F-72D0-B10D-568CAC5BD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11000">
            <a:off x="90000" y="68941"/>
            <a:ext cx="9000000" cy="4985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hu-HU" sz="3600" b="1" dirty="0"/>
              <a:t>Rövid háttérsztori</a:t>
            </a:r>
            <a:endParaRPr lang="hu-HU" sz="3600" b="1" u="none" strike="noStrike" dirty="0">
              <a:effectLst/>
              <a:uFillTx/>
              <a:latin typeface="Arial"/>
            </a:endParaRPr>
          </a:p>
        </p:txBody>
      </p:sp>
      <p:sp>
        <p:nvSpPr>
          <p:cNvPr id="54" name="PlaceHolder 2">
            <a:extLst>
              <a:ext uri="{FF2B5EF4-FFF2-40B4-BE49-F238E27FC236}">
                <a16:creationId xmlns:a16="http://schemas.microsoft.com/office/drawing/2014/main" id="{C47B2713-577D-AF58-2B70-C4D5FB0161D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04000" y="151524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 algn="just">
              <a:spcAft>
                <a:spcPts val="856"/>
              </a:spcAft>
              <a:buNone/>
            </a:pPr>
            <a:r>
              <a:rPr lang="en-US" sz="2400" b="1" u="none" strike="noStrike" dirty="0">
                <a:effectLst/>
                <a:uFillTx/>
                <a:latin typeface="Arial"/>
              </a:rPr>
              <a:t>A </a:t>
            </a:r>
            <a:r>
              <a:rPr lang="en-US" sz="2400" b="1" u="none" strike="noStrike" dirty="0" err="1">
                <a:effectLst/>
                <a:uFillTx/>
                <a:latin typeface="Arial"/>
              </a:rPr>
              <a:t>csapat</a:t>
            </a:r>
            <a:r>
              <a:rPr lang="hu-HU" sz="2400" b="1" u="none" strike="noStrike" dirty="0">
                <a:effectLst/>
                <a:uFillTx/>
                <a:latin typeface="Arial"/>
              </a:rPr>
              <a:t>:</a:t>
            </a: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hu-HU" altLang="hu-H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- Dávid, a frontendes mester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u-HU" altLang="hu-H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-ben nyomja, és minden CSS-		</a:t>
            </a:r>
            <a:r>
              <a:rPr kumimoji="0" lang="hu-HU" altLang="hu-H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bugra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van egy megoldása</a:t>
            </a: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hu-HU" altLang="hu-H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- Ádám, a Python mágus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adatbázisok és AI modellek a specialitása</a:t>
            </a: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hu-HU" altLang="hu-H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- </a:t>
            </a:r>
            <a:r>
              <a:rPr kumimoji="0" lang="hu-HU" altLang="hu-H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BalázsBot</a:t>
            </a:r>
            <a:r>
              <a:rPr kumimoji="0" lang="hu-HU" altLang="hu-H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 humoros AI mentor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mindig segít, de néha fura 		válaszokat ad.</a:t>
            </a: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hu-HU" altLang="hu-H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- Kincső, a projektvezető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mindent egyben tart, még az éjféli 			</a:t>
            </a:r>
            <a:r>
              <a:rPr kumimoji="0" lang="hu-HU" altLang="hu-H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deployokat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</a:t>
            </a: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C9150537-5C7A-F8C9-51C7-D0E5A0CB39D6}"/>
              </a:ext>
            </a:extLst>
          </p:cNvPr>
          <p:cNvSpPr>
            <a:spLocks noGrp="1"/>
          </p:cNvSpPr>
          <p:nvPr>
            <p:ph type="sldNum" idx="6"/>
          </p:nvPr>
        </p:nvSpPr>
        <p:spPr>
          <a:xfrm>
            <a:off x="7379640" y="4589640"/>
            <a:ext cx="2520000" cy="400110"/>
          </a:xfrm>
        </p:spPr>
        <p:txBody>
          <a:bodyPr/>
          <a:lstStyle/>
          <a:p>
            <a:r>
              <a:rPr lang="hu-HU" dirty="0"/>
              <a:t>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0924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D476E-BAD0-3678-028F-34E17416C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>
            <a:extLst>
              <a:ext uri="{FF2B5EF4-FFF2-40B4-BE49-F238E27FC236}">
                <a16:creationId xmlns:a16="http://schemas.microsoft.com/office/drawing/2014/main" id="{10D0AC69-7614-6D46-B94D-A2A24C782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11000">
            <a:off x="90000" y="68941"/>
            <a:ext cx="9000000" cy="4985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hu-HU" sz="3600" b="1" dirty="0"/>
              <a:t>Ügyfélszolgálati sztori</a:t>
            </a:r>
            <a:endParaRPr lang="hu-HU" sz="3600" b="1" u="none" strike="noStrike" dirty="0">
              <a:effectLst/>
              <a:uFillTx/>
              <a:latin typeface="Arial"/>
            </a:endParaRPr>
          </a:p>
        </p:txBody>
      </p:sp>
      <p:sp>
        <p:nvSpPr>
          <p:cNvPr id="54" name="PlaceHolder 2">
            <a:extLst>
              <a:ext uri="{FF2B5EF4-FFF2-40B4-BE49-F238E27FC236}">
                <a16:creationId xmlns:a16="http://schemas.microsoft.com/office/drawing/2014/main" id="{DDC31910-1472-6A10-85D5-E7889B7B371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04000" y="151524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buNone/>
            </a:pPr>
            <a:r>
              <a:rPr lang="hu-HU" sz="2800" dirty="0"/>
              <a:t>- Egy diák nem kapta meg a tanúsítványt egy sikeres teszt után.</a:t>
            </a:r>
          </a:p>
          <a:p>
            <a:pPr>
              <a:buNone/>
            </a:pPr>
            <a:r>
              <a:rPr lang="hu-HU" sz="2800" dirty="0"/>
              <a:t>- Ügyfélszolgálati jegyet nyitott (</a:t>
            </a:r>
            <a:r>
              <a:rPr lang="hu-HU" sz="2800" dirty="0" err="1"/>
              <a:t>ticket</a:t>
            </a:r>
            <a:r>
              <a:rPr lang="hu-HU" sz="2800" dirty="0"/>
              <a:t> rendszer).</a:t>
            </a:r>
          </a:p>
          <a:p>
            <a:pPr>
              <a:buNone/>
            </a:pPr>
            <a:r>
              <a:rPr lang="hu-HU" sz="2800" dirty="0"/>
              <a:t>- Oktató visszanézte az adatbázist, és észrevette: nem lett elmentve az eredmény.</a:t>
            </a:r>
          </a:p>
          <a:p>
            <a:r>
              <a:rPr lang="hu-HU" sz="2800" dirty="0"/>
              <a:t>- Javították, </a:t>
            </a:r>
            <a:r>
              <a:rPr lang="hu-HU" sz="2800" dirty="0" err="1"/>
              <a:t>újrakiállították</a:t>
            </a:r>
            <a:r>
              <a:rPr lang="hu-HU" sz="2800" dirty="0"/>
              <a:t> a tanúsítványt – plusz kaptak egy 10%-os kupont.</a:t>
            </a: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FD1CED07-9DA7-7618-B181-920351E640D5}"/>
              </a:ext>
            </a:extLst>
          </p:cNvPr>
          <p:cNvSpPr>
            <a:spLocks noGrp="1"/>
          </p:cNvSpPr>
          <p:nvPr>
            <p:ph type="sldNum" idx="6"/>
          </p:nvPr>
        </p:nvSpPr>
        <p:spPr>
          <a:xfrm>
            <a:off x="7379640" y="4589640"/>
            <a:ext cx="2520000" cy="400110"/>
          </a:xfrm>
        </p:spPr>
        <p:txBody>
          <a:bodyPr/>
          <a:lstStyle/>
          <a:p>
            <a:r>
              <a:rPr lang="hu-HU" dirty="0"/>
              <a:t>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9389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 rot="21111000">
            <a:off x="92160" y="295021"/>
            <a:ext cx="9000000" cy="4985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hu-HU" sz="3600" b="1" u="none" strike="noStrike" dirty="0">
                <a:effectLst/>
                <a:uFillTx/>
                <a:latin typeface="Arial"/>
              </a:rPr>
              <a:t>Adatbázis Modell</a:t>
            </a: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3640" y="1785240"/>
            <a:ext cx="887004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 marL="432000" indent="-324000" algn="just">
              <a:spcAft>
                <a:spcPts val="859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 dirty="0">
                <a:effectLst/>
                <a:uFillTx/>
                <a:latin typeface="Arial"/>
              </a:rPr>
              <a:t>Főbb Táblák:</a:t>
            </a:r>
          </a:p>
          <a:p>
            <a:pPr marL="648000" lvl="2" indent="-216000">
              <a:spcAft>
                <a:spcPts val="638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 dirty="0">
                <a:solidFill>
                  <a:schemeClr val="tx1"/>
                </a:solidFill>
                <a:effectLst/>
                <a:uFillTx/>
                <a:latin typeface="Arial"/>
              </a:rPr>
              <a:t>Diákok</a:t>
            </a:r>
          </a:p>
          <a:p>
            <a:pPr marL="864000" lvl="3" indent="-216000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500" b="0" u="none" strike="noStrike" dirty="0" err="1">
                <a:solidFill>
                  <a:schemeClr val="tx1"/>
                </a:solidFill>
                <a:effectLst/>
                <a:uFillTx/>
                <a:latin typeface="Arial"/>
              </a:rPr>
              <a:t>student_id</a:t>
            </a:r>
            <a:endParaRPr lang="hu-HU" sz="1500" b="0" u="none" strike="noStrike" dirty="0">
              <a:solidFill>
                <a:schemeClr val="tx1"/>
              </a:solidFill>
              <a:effectLst/>
              <a:uFillTx/>
              <a:latin typeface="Arial"/>
            </a:endParaRPr>
          </a:p>
          <a:p>
            <a:pPr marL="864000" lvl="3" indent="-216000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500" b="0" u="none" strike="noStrike" dirty="0" err="1">
                <a:solidFill>
                  <a:schemeClr val="tx1"/>
                </a:solidFill>
                <a:effectLst/>
                <a:uFillTx/>
                <a:latin typeface="Arial"/>
              </a:rPr>
              <a:t>Name</a:t>
            </a:r>
            <a:endParaRPr lang="hu-HU" sz="1500" b="0" u="none" strike="noStrike" dirty="0">
              <a:solidFill>
                <a:schemeClr val="tx1"/>
              </a:solidFill>
              <a:effectLst/>
              <a:uFillTx/>
              <a:latin typeface="Arial"/>
            </a:endParaRPr>
          </a:p>
          <a:p>
            <a:pPr marL="864000" lvl="3" indent="-216000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500" b="0" u="none" strike="noStrike" dirty="0">
                <a:solidFill>
                  <a:schemeClr val="tx1"/>
                </a:solidFill>
                <a:effectLst/>
                <a:uFillTx/>
                <a:latin typeface="Arial"/>
              </a:rPr>
              <a:t>Email</a:t>
            </a:r>
          </a:p>
          <a:p>
            <a:pPr marL="864000" lvl="3" indent="-216000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500" b="0" u="none" strike="noStrike" dirty="0" err="1">
                <a:solidFill>
                  <a:schemeClr val="tx1"/>
                </a:solidFill>
                <a:effectLst/>
                <a:uFillTx/>
                <a:latin typeface="Arial"/>
              </a:rPr>
              <a:t>registration_date</a:t>
            </a:r>
            <a:endParaRPr lang="hu-HU" sz="1500" b="0" u="none" strike="noStrike" dirty="0">
              <a:solidFill>
                <a:schemeClr val="tx1"/>
              </a:solidFill>
              <a:effectLst/>
              <a:uFillTx/>
              <a:latin typeface="Arial"/>
            </a:endParaRPr>
          </a:p>
          <a:p>
            <a:pPr marL="648000" lvl="2" indent="-216000">
              <a:spcAft>
                <a:spcPts val="638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 dirty="0" err="1">
                <a:solidFill>
                  <a:schemeClr val="tx1"/>
                </a:solidFill>
                <a:effectLst/>
                <a:uFillTx/>
                <a:latin typeface="Arial"/>
              </a:rPr>
              <a:t>Kurzosok</a:t>
            </a:r>
            <a:endParaRPr lang="hu-HU" sz="1800" b="0" u="none" strike="noStrike" dirty="0">
              <a:solidFill>
                <a:schemeClr val="tx1"/>
              </a:solidFill>
              <a:effectLst/>
              <a:uFillTx/>
              <a:latin typeface="Arial"/>
            </a:endParaRPr>
          </a:p>
          <a:p>
            <a:pPr marL="864000" lvl="3" indent="-216000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500" b="0" u="none" strike="noStrike" dirty="0" err="1">
                <a:solidFill>
                  <a:schemeClr val="tx1"/>
                </a:solidFill>
                <a:effectLst/>
                <a:uFillTx/>
                <a:latin typeface="Arial"/>
              </a:rPr>
              <a:t>course_id</a:t>
            </a:r>
            <a:endParaRPr lang="hu-HU" sz="1500" b="0" u="none" strike="noStrike" dirty="0">
              <a:solidFill>
                <a:schemeClr val="tx1"/>
              </a:solidFill>
              <a:effectLst/>
              <a:uFillTx/>
              <a:latin typeface="Arial"/>
            </a:endParaRPr>
          </a:p>
          <a:p>
            <a:pPr marL="864000" lvl="3" indent="-216000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500" b="0" u="none" strike="noStrike" dirty="0" err="1">
                <a:solidFill>
                  <a:schemeClr val="tx1"/>
                </a:solidFill>
                <a:effectLst/>
                <a:uFillTx/>
                <a:latin typeface="Arial"/>
              </a:rPr>
              <a:t>instructor_id</a:t>
            </a:r>
            <a:endParaRPr lang="hu-HU" sz="1500" b="0" u="none" strike="noStrike" dirty="0">
              <a:solidFill>
                <a:schemeClr val="tx1"/>
              </a:solidFill>
              <a:effectLst/>
              <a:uFillTx/>
              <a:latin typeface="Arial"/>
            </a:endParaRPr>
          </a:p>
          <a:p>
            <a:pPr marL="864000" lvl="3" indent="-216000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500" b="0" u="none" strike="noStrike" dirty="0" err="1">
                <a:solidFill>
                  <a:schemeClr val="tx1"/>
                </a:solidFill>
                <a:effectLst/>
                <a:uFillTx/>
                <a:latin typeface="Arial"/>
              </a:rPr>
              <a:t>start_date</a:t>
            </a:r>
            <a:endParaRPr lang="hu-HU" sz="1500" b="0" u="none" strike="noStrike" dirty="0">
              <a:solidFill>
                <a:schemeClr val="tx1"/>
              </a:solidFill>
              <a:effectLst/>
              <a:uFillTx/>
              <a:latin typeface="Arial"/>
            </a:endParaRPr>
          </a:p>
          <a:p>
            <a:pPr marL="864000" lvl="3" indent="-216000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500" b="0" u="none" strike="noStrike" dirty="0" err="1">
                <a:solidFill>
                  <a:schemeClr val="tx1"/>
                </a:solidFill>
                <a:effectLst/>
                <a:uFillTx/>
                <a:latin typeface="Arial"/>
              </a:rPr>
              <a:t>price</a:t>
            </a:r>
            <a:endParaRPr lang="hu-HU" sz="1500" b="0" u="none" strike="noStrike" dirty="0">
              <a:solidFill>
                <a:schemeClr val="tx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>
          <a:xfrm>
            <a:off x="7379640" y="4589640"/>
            <a:ext cx="2520000" cy="400110"/>
          </a:xfrm>
        </p:spPr>
        <p:txBody>
          <a:bodyPr/>
          <a:lstStyle/>
          <a:p>
            <a:r>
              <a:rPr lang="hu-HU" dirty="0"/>
              <a:t>5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 rot="21111000">
            <a:off x="90000" y="68941"/>
            <a:ext cx="9000000" cy="4985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hu-HU" sz="3600" b="1" u="none" strike="noStrike" dirty="0">
                <a:effectLst/>
                <a:uFillTx/>
                <a:latin typeface="Arial"/>
              </a:rPr>
              <a:t>Adatbázis Modell</a:t>
            </a: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51524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</a:pPr>
            <a:r>
              <a:rPr lang="hu-HU" sz="2000" b="0" u="none" strike="noStrike" dirty="0">
                <a:solidFill>
                  <a:schemeClr val="tx1"/>
                </a:solidFill>
                <a:effectLst/>
                <a:uFillTx/>
                <a:latin typeface="Arial"/>
              </a:rPr>
              <a:t>Főbb táblák:</a:t>
            </a:r>
            <a:br>
              <a:rPr lang="hu-HU" sz="2000" b="0" u="none" strike="noStrike" dirty="0">
                <a:solidFill>
                  <a:schemeClr val="tx1"/>
                </a:solidFill>
                <a:effectLst/>
                <a:uFillTx/>
                <a:latin typeface="Arial"/>
              </a:rPr>
            </a:br>
            <a:endParaRPr lang="hu-HU" sz="2000" b="0" u="none" strike="noStrike" dirty="0">
              <a:solidFill>
                <a:schemeClr val="tx1"/>
              </a:solidFill>
              <a:effectLst/>
              <a:uFillTx/>
              <a:latin typeface="Arial"/>
            </a:endParaRPr>
          </a:p>
          <a:p>
            <a:pPr>
              <a:buNone/>
            </a:pPr>
            <a:r>
              <a:rPr lang="hu-HU" sz="2000" dirty="0"/>
              <a:t>	</a:t>
            </a:r>
            <a:r>
              <a:rPr lang="hu-HU" sz="2000" dirty="0" err="1"/>
              <a:t>Student</a:t>
            </a:r>
            <a:r>
              <a:rPr lang="hu-HU" sz="2000" dirty="0"/>
              <a:t> (</a:t>
            </a:r>
            <a:r>
              <a:rPr lang="hu-HU" sz="2000" dirty="0" err="1"/>
              <a:t>id</a:t>
            </a:r>
            <a:r>
              <a:rPr lang="hu-HU" sz="2000" dirty="0"/>
              <a:t>, </a:t>
            </a:r>
            <a:r>
              <a:rPr lang="hu-HU" sz="2000" dirty="0" err="1"/>
              <a:t>name</a:t>
            </a:r>
            <a:r>
              <a:rPr lang="hu-HU" sz="2000" dirty="0"/>
              <a:t>, email, </a:t>
            </a:r>
            <a:r>
              <a:rPr lang="hu-HU" sz="2000" dirty="0" err="1"/>
              <a:t>registration_date</a:t>
            </a:r>
            <a:r>
              <a:rPr lang="hu-HU" sz="2000" dirty="0"/>
              <a:t>)</a:t>
            </a:r>
          </a:p>
          <a:p>
            <a:pPr>
              <a:buNone/>
            </a:pPr>
            <a:r>
              <a:rPr lang="hu-HU" sz="2000" dirty="0"/>
              <a:t>	</a:t>
            </a:r>
            <a:r>
              <a:rPr lang="hu-HU" sz="2000" dirty="0" err="1"/>
              <a:t>Instructor</a:t>
            </a:r>
            <a:r>
              <a:rPr lang="hu-HU" sz="2000" dirty="0"/>
              <a:t> (</a:t>
            </a:r>
            <a:r>
              <a:rPr lang="hu-HU" sz="2000" dirty="0" err="1"/>
              <a:t>id</a:t>
            </a:r>
            <a:r>
              <a:rPr lang="hu-HU" sz="2000" dirty="0"/>
              <a:t>, </a:t>
            </a:r>
            <a:r>
              <a:rPr lang="hu-HU" sz="2000" dirty="0" err="1"/>
              <a:t>name</a:t>
            </a:r>
            <a:r>
              <a:rPr lang="hu-HU" sz="2000" dirty="0"/>
              <a:t>, email, </a:t>
            </a:r>
            <a:r>
              <a:rPr lang="hu-HU" sz="2000" dirty="0" err="1"/>
              <a:t>specialty</a:t>
            </a:r>
            <a:r>
              <a:rPr lang="hu-HU" sz="2000" dirty="0"/>
              <a:t>)</a:t>
            </a:r>
          </a:p>
          <a:p>
            <a:pPr>
              <a:buNone/>
            </a:pPr>
            <a:r>
              <a:rPr lang="hu-HU" sz="2000" dirty="0"/>
              <a:t>	</a:t>
            </a:r>
            <a:r>
              <a:rPr lang="hu-HU" sz="2000" dirty="0" err="1"/>
              <a:t>Course</a:t>
            </a:r>
            <a:r>
              <a:rPr lang="hu-HU" sz="2000" dirty="0"/>
              <a:t> (</a:t>
            </a:r>
            <a:r>
              <a:rPr lang="hu-HU" sz="2000" dirty="0" err="1"/>
              <a:t>id</a:t>
            </a:r>
            <a:r>
              <a:rPr lang="hu-HU" sz="2000" dirty="0"/>
              <a:t>, </a:t>
            </a:r>
            <a:r>
              <a:rPr lang="hu-HU" sz="2000" dirty="0" err="1"/>
              <a:t>instructor_id</a:t>
            </a:r>
            <a:r>
              <a:rPr lang="hu-HU" sz="2000" dirty="0"/>
              <a:t>, </a:t>
            </a:r>
            <a:r>
              <a:rPr lang="hu-HU" sz="2000" dirty="0" err="1"/>
              <a:t>start_date</a:t>
            </a:r>
            <a:r>
              <a:rPr lang="hu-HU" sz="2000" dirty="0"/>
              <a:t>, </a:t>
            </a:r>
            <a:r>
              <a:rPr lang="hu-HU" sz="2000" dirty="0" err="1"/>
              <a:t>price</a:t>
            </a:r>
            <a:r>
              <a:rPr lang="hu-HU" sz="2000" dirty="0"/>
              <a:t>)</a:t>
            </a:r>
          </a:p>
          <a:p>
            <a:pPr>
              <a:buNone/>
            </a:pPr>
            <a:r>
              <a:rPr lang="hu-HU" sz="2000" dirty="0"/>
              <a:t>	</a:t>
            </a:r>
            <a:r>
              <a:rPr lang="hu-HU" sz="2000" dirty="0" err="1"/>
              <a:t>Enrollment</a:t>
            </a:r>
            <a:r>
              <a:rPr lang="hu-HU" sz="2000" dirty="0"/>
              <a:t> (</a:t>
            </a:r>
            <a:r>
              <a:rPr lang="hu-HU" sz="2000" dirty="0" err="1"/>
              <a:t>student_id</a:t>
            </a:r>
            <a:r>
              <a:rPr lang="hu-HU" sz="2000" dirty="0"/>
              <a:t>, </a:t>
            </a:r>
            <a:r>
              <a:rPr lang="hu-HU" sz="2000" dirty="0" err="1"/>
              <a:t>course_id</a:t>
            </a:r>
            <a:r>
              <a:rPr lang="hu-HU" sz="2000" dirty="0"/>
              <a:t>, </a:t>
            </a:r>
            <a:r>
              <a:rPr lang="hu-HU" sz="2000" dirty="0" err="1"/>
              <a:t>enrollment_date</a:t>
            </a:r>
            <a:r>
              <a:rPr lang="hu-HU" sz="2000" dirty="0"/>
              <a:t>)</a:t>
            </a:r>
          </a:p>
          <a:p>
            <a:pPr>
              <a:buNone/>
            </a:pPr>
            <a:r>
              <a:rPr lang="hu-HU" sz="2000" dirty="0"/>
              <a:t>	</a:t>
            </a:r>
            <a:r>
              <a:rPr lang="hu-HU" sz="2000" dirty="0" err="1"/>
              <a:t>Certificate</a:t>
            </a:r>
            <a:r>
              <a:rPr lang="hu-HU" sz="2000" dirty="0"/>
              <a:t> (</a:t>
            </a:r>
            <a:r>
              <a:rPr lang="hu-HU" sz="2000" dirty="0" err="1"/>
              <a:t>id</a:t>
            </a:r>
            <a:r>
              <a:rPr lang="hu-HU" sz="2000" dirty="0"/>
              <a:t>, </a:t>
            </a:r>
            <a:r>
              <a:rPr lang="hu-HU" sz="2000" dirty="0" err="1"/>
              <a:t>student_id</a:t>
            </a:r>
            <a:r>
              <a:rPr lang="hu-HU" sz="2000" dirty="0"/>
              <a:t>, </a:t>
            </a:r>
            <a:r>
              <a:rPr lang="hu-HU" sz="2000" dirty="0" err="1"/>
              <a:t>course_id</a:t>
            </a:r>
            <a:r>
              <a:rPr lang="hu-HU" sz="2000" dirty="0"/>
              <a:t>, </a:t>
            </a:r>
            <a:r>
              <a:rPr lang="hu-HU" sz="2000" dirty="0" err="1"/>
              <a:t>date_issued</a:t>
            </a:r>
            <a:r>
              <a:rPr lang="hu-HU" sz="2000" dirty="0"/>
              <a:t>)</a:t>
            </a:r>
          </a:p>
          <a:p>
            <a:pPr>
              <a:buNone/>
            </a:pPr>
            <a:endParaRPr lang="hu-HU" sz="2000" dirty="0"/>
          </a:p>
          <a:p>
            <a:pPr>
              <a:buNone/>
            </a:pPr>
            <a:r>
              <a:rPr lang="hu-HU" sz="2000" dirty="0"/>
              <a:t>Kapcsolatok:</a:t>
            </a:r>
          </a:p>
          <a:p>
            <a:pPr>
              <a:buNone/>
            </a:pPr>
            <a:r>
              <a:rPr lang="hu-HU" sz="2000" dirty="0"/>
              <a:t>	</a:t>
            </a:r>
            <a:r>
              <a:rPr lang="hu-HU" sz="2000" dirty="0" err="1"/>
              <a:t>Student</a:t>
            </a:r>
            <a:r>
              <a:rPr lang="hu-HU" sz="2000" dirty="0"/>
              <a:t> → </a:t>
            </a:r>
            <a:r>
              <a:rPr lang="hu-HU" sz="2000" dirty="0" err="1"/>
              <a:t>Enrollment</a:t>
            </a:r>
            <a:r>
              <a:rPr lang="hu-HU" sz="2000" dirty="0"/>
              <a:t> (1:N)</a:t>
            </a:r>
          </a:p>
          <a:p>
            <a:pPr>
              <a:buNone/>
            </a:pPr>
            <a:r>
              <a:rPr lang="hu-HU" sz="2000" dirty="0"/>
              <a:t>	</a:t>
            </a:r>
            <a:r>
              <a:rPr lang="hu-HU" sz="2000" dirty="0" err="1"/>
              <a:t>Instructor</a:t>
            </a:r>
            <a:r>
              <a:rPr lang="hu-HU" sz="2000" dirty="0"/>
              <a:t> → </a:t>
            </a:r>
            <a:r>
              <a:rPr lang="hu-HU" sz="2000" dirty="0" err="1"/>
              <a:t>Course</a:t>
            </a:r>
            <a:r>
              <a:rPr lang="hu-HU" sz="2000" dirty="0"/>
              <a:t> (1:N)</a:t>
            </a:r>
          </a:p>
          <a:p>
            <a:pPr>
              <a:buNone/>
            </a:pPr>
            <a:r>
              <a:rPr lang="hu-HU" sz="2000" dirty="0"/>
              <a:t>	</a:t>
            </a:r>
            <a:r>
              <a:rPr lang="hu-HU" sz="2000" dirty="0" err="1"/>
              <a:t>Course</a:t>
            </a:r>
            <a:r>
              <a:rPr lang="hu-HU" sz="2000" dirty="0"/>
              <a:t> → </a:t>
            </a:r>
            <a:r>
              <a:rPr lang="hu-HU" sz="2000" dirty="0" err="1"/>
              <a:t>Enrollment</a:t>
            </a:r>
            <a:r>
              <a:rPr lang="hu-HU" sz="2000" dirty="0"/>
              <a:t> (1:N)</a:t>
            </a:r>
          </a:p>
          <a:p>
            <a:r>
              <a:rPr lang="hu-HU" sz="2000" dirty="0"/>
              <a:t>	</a:t>
            </a:r>
            <a:r>
              <a:rPr lang="hu-HU" sz="2000" dirty="0" err="1"/>
              <a:t>Student</a:t>
            </a:r>
            <a:r>
              <a:rPr lang="hu-HU" sz="2000" dirty="0"/>
              <a:t> + </a:t>
            </a:r>
            <a:r>
              <a:rPr lang="hu-HU" sz="2000" dirty="0" err="1"/>
              <a:t>Course</a:t>
            </a:r>
            <a:r>
              <a:rPr lang="hu-HU" sz="2000" dirty="0"/>
              <a:t> → </a:t>
            </a:r>
            <a:r>
              <a:rPr lang="hu-HU" sz="2000" dirty="0" err="1"/>
              <a:t>Certificate</a:t>
            </a:r>
            <a:r>
              <a:rPr lang="hu-HU" sz="2000" dirty="0"/>
              <a:t> (1:1)</a:t>
            </a:r>
          </a:p>
          <a:p>
            <a:pPr marL="864000" lvl="3" indent="-216000" algn="just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endParaRPr lang="hu-HU" sz="2000" b="0" u="none" strike="noStrike" dirty="0">
              <a:solidFill>
                <a:schemeClr val="tx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ABC195D-ECE3-402A-A3F4-AF85B4A88753}" type="slidenum">
              <a:rPr/>
              <a:t>6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61493" y="1233170"/>
            <a:ext cx="2756517" cy="2893139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50552" y="1626637"/>
            <a:ext cx="2173635" cy="210620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indent="0" algn="ctr"/>
            <a:r>
              <a:rPr lang="en-US" sz="1900" b="1" u="none" strike="noStrike" kern="1200">
                <a:solidFill>
                  <a:srgbClr val="FFFFFF"/>
                </a:solidFill>
                <a:effectLst/>
                <a:uFillTx/>
                <a:latin typeface="+mj-lt"/>
                <a:ea typeface="+mj-ea"/>
                <a:cs typeface="+mj-cs"/>
              </a:rPr>
              <a:t>1.Legnépszerűbb kurzusok listája</a:t>
            </a:r>
          </a:p>
        </p:txBody>
      </p:sp>
      <p:pic>
        <p:nvPicPr>
          <p:cNvPr id="60" name="Kép 59" descr="A képen szöveg, képernyőkép, szoftver, Multimédiás szoftver látható&#10;&#10;Előfordulhat, hogy a mesterséges intelligencia által létrehozott tartalom helytelen."/>
          <p:cNvPicPr/>
          <p:nvPr/>
        </p:nvPicPr>
        <p:blipFill>
          <a:blip r:embed="rId2"/>
          <a:stretch/>
        </p:blipFill>
        <p:spPr>
          <a:xfrm>
            <a:off x="3949994" y="1068284"/>
            <a:ext cx="5606438" cy="3532055"/>
          </a:xfrm>
          <a:prstGeom prst="rect">
            <a:avLst/>
          </a:prstGeom>
          <a:noFill/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>
          <a:xfrm>
            <a:off x="9343794" y="4998820"/>
            <a:ext cx="425275" cy="301905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spcAft>
                <a:spcPts val="600"/>
              </a:spcAft>
            </a:pPr>
            <a:fld id="{C933FE9D-0909-4844-89F0-81DC191A89A0}" type="slidenum">
              <a:rPr lang="en-US">
                <a:solidFill>
                  <a:schemeClr val="bg1">
                    <a:alpha val="80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7</a:t>
            </a:fld>
            <a:endParaRPr lang="en-US" dirty="0">
              <a:solidFill>
                <a:schemeClr val="bg1">
                  <a:alpha val="80000"/>
                </a:schemeClr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61493" y="1233170"/>
            <a:ext cx="2756517" cy="2893139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50552" y="1626637"/>
            <a:ext cx="2173635" cy="210620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indent="0" algn="ctr"/>
            <a:r>
              <a:rPr lang="en-US" sz="2300" b="1" u="none" strike="noStrike" kern="1200">
                <a:solidFill>
                  <a:srgbClr val="FFFFFF"/>
                </a:solidFill>
                <a:effectLst/>
                <a:uFillTx/>
                <a:latin typeface="+mj-lt"/>
                <a:ea typeface="+mj-ea"/>
                <a:cs typeface="+mj-cs"/>
              </a:rPr>
              <a:t>2. Diákok, akik 2024 előtt regisztráltak és legalább egy kurzusra beiratkoztak</a:t>
            </a:r>
          </a:p>
        </p:txBody>
      </p:sp>
      <p:pic>
        <p:nvPicPr>
          <p:cNvPr id="62" name="Kép 61"/>
          <p:cNvPicPr/>
          <p:nvPr/>
        </p:nvPicPr>
        <p:blipFill>
          <a:blip r:embed="rId2"/>
          <a:stretch/>
        </p:blipFill>
        <p:spPr>
          <a:xfrm>
            <a:off x="3949994" y="1236477"/>
            <a:ext cx="5606438" cy="3195669"/>
          </a:xfrm>
          <a:prstGeom prst="rect">
            <a:avLst/>
          </a:prstGeom>
          <a:noFill/>
        </p:spPr>
      </p:pic>
      <p:sp>
        <p:nvSpPr>
          <p:cNvPr id="3" name="PlaceHolder 2"/>
          <p:cNvSpPr>
            <a:spLocks noGrp="1"/>
          </p:cNvSpPr>
          <p:nvPr>
            <p:ph type="sldNum" idx="6"/>
          </p:nvPr>
        </p:nvSpPr>
        <p:spPr>
          <a:xfrm>
            <a:off x="9123316" y="5255759"/>
            <a:ext cx="425275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901FB2A-B232-49FB-AC10-873A8FA8E86B}" type="slidenum">
              <a:rPr lang="en-US" sz="1200">
                <a:solidFill>
                  <a:schemeClr val="tx1">
                    <a:alpha val="80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8</a:t>
            </a:fld>
            <a:endParaRPr lang="en-US" sz="1200" dirty="0">
              <a:solidFill>
                <a:schemeClr val="tx1">
                  <a:alpha val="80000"/>
                </a:schemeClr>
              </a:solidFill>
              <a:latin typeface="+mn-lt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C68702F4-E244-0979-171A-FEE457932DE5}"/>
              </a:ext>
            </a:extLst>
          </p:cNvPr>
          <p:cNvSpPr txBox="1">
            <a:spLocks/>
          </p:cNvSpPr>
          <p:nvPr/>
        </p:nvSpPr>
        <p:spPr>
          <a:xfrm>
            <a:off x="9343794" y="4998820"/>
            <a:ext cx="425275" cy="3019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C933FE9D-0909-4844-89F0-81DC191A89A0}" type="slidenum">
              <a:rPr lang="en-US" smtClean="0">
                <a:solidFill>
                  <a:schemeClr val="bg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dirty="0">
              <a:solidFill>
                <a:schemeClr val="bg1">
                  <a:alpha val="8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61493" y="1233170"/>
            <a:ext cx="2756517" cy="2893139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50552" y="1626637"/>
            <a:ext cx="2173635" cy="210620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indent="0" algn="ctr"/>
            <a:r>
              <a:rPr lang="en-US" sz="2300" b="1" u="none" strike="noStrike" kern="1200">
                <a:solidFill>
                  <a:srgbClr val="FFFFFF"/>
                </a:solidFill>
                <a:effectLst/>
                <a:uFillTx/>
                <a:latin typeface="+mj-lt"/>
                <a:ea typeface="+mj-ea"/>
                <a:cs typeface="+mj-cs"/>
              </a:rPr>
              <a:t>3. Kurzusok és azok oktatói, </a:t>
            </a:r>
            <a:br>
              <a:rPr lang="en-US" sz="2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300" b="1" u="none" strike="noStrike" kern="1200">
                <a:solidFill>
                  <a:srgbClr val="FFFFFF"/>
                </a:solidFill>
                <a:effectLst/>
                <a:uFillTx/>
                <a:latin typeface="+mj-lt"/>
                <a:ea typeface="+mj-ea"/>
                <a:cs typeface="+mj-cs"/>
              </a:rPr>
              <a:t>akik legalább 3 kurzust tanítanak</a:t>
            </a:r>
          </a:p>
        </p:txBody>
      </p:sp>
      <p:pic>
        <p:nvPicPr>
          <p:cNvPr id="64" name="Kép 63"/>
          <p:cNvPicPr/>
          <p:nvPr/>
        </p:nvPicPr>
        <p:blipFill>
          <a:blip r:embed="rId2"/>
          <a:stretch/>
        </p:blipFill>
        <p:spPr>
          <a:xfrm>
            <a:off x="3949994" y="907099"/>
            <a:ext cx="5606438" cy="3854426"/>
          </a:xfrm>
          <a:prstGeom prst="rect">
            <a:avLst/>
          </a:prstGeom>
          <a:noFill/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>
          <a:xfrm>
            <a:off x="9123316" y="5255759"/>
            <a:ext cx="425275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87A8573-86D2-47CB-8356-882D760F769D}" type="slidenum">
              <a:rPr lang="en-US" sz="1200">
                <a:solidFill>
                  <a:schemeClr val="tx1">
                    <a:alpha val="80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9</a:t>
            </a:fld>
            <a:endParaRPr lang="en-US" sz="1200">
              <a:solidFill>
                <a:schemeClr val="tx1">
                  <a:alpha val="80000"/>
                </a:schemeClr>
              </a:solidFill>
              <a:latin typeface="+mn-lt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0A544B01-2AFC-206A-6CB2-6C9EF3A22643}"/>
              </a:ext>
            </a:extLst>
          </p:cNvPr>
          <p:cNvSpPr txBox="1">
            <a:spLocks/>
          </p:cNvSpPr>
          <p:nvPr/>
        </p:nvSpPr>
        <p:spPr>
          <a:xfrm>
            <a:off x="9343794" y="4998820"/>
            <a:ext cx="425275" cy="301905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hu-HU"/>
            </a:defPPr>
            <a:lvl1pPr marL="0" indent="0" algn="r" defTabSz="914400" rtl="0" eaLnBrk="1" latinLnBrk="0" hangingPunct="1">
              <a:buNone/>
              <a:defRPr lang="hu-HU" sz="2600" b="0" u="none" strike="noStrike" kern="1200">
                <a:solidFill>
                  <a:srgbClr val="FFFFFF"/>
                </a:solidFill>
                <a:effectLst/>
                <a:uFillTx/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C933FE9D-0909-4844-89F0-81DC191A89A0}" type="slidenum">
              <a:rPr lang="en-US" smtClean="0">
                <a:solidFill>
                  <a:schemeClr val="bg1">
                    <a:alpha val="80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9</a:t>
            </a:fld>
            <a:endParaRPr lang="en-US" dirty="0">
              <a:solidFill>
                <a:schemeClr val="bg1">
                  <a:alpha val="80000"/>
                </a:schemeClr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B4D62C-B95C-67A1-1D8F-1C5845364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61493" y="1233170"/>
            <a:ext cx="2756517" cy="2893139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PlaceHolder 1">
            <a:extLst>
              <a:ext uri="{FF2B5EF4-FFF2-40B4-BE49-F238E27FC236}">
                <a16:creationId xmlns:a16="http://schemas.microsoft.com/office/drawing/2014/main" id="{238E0EC9-2E53-C0D9-36E3-9E3B32A2F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552" y="1626637"/>
            <a:ext cx="2173635" cy="210620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indent="0" algn="ctr"/>
            <a:r>
              <a:rPr lang="en-US" sz="2300" b="1" u="none" strike="noStrike" kern="1200">
                <a:solidFill>
                  <a:srgbClr val="FFFFFF"/>
                </a:solidFill>
                <a:effectLst/>
                <a:uFillTx/>
                <a:latin typeface="+mj-lt"/>
                <a:ea typeface="+mj-ea"/>
                <a:cs typeface="+mj-cs"/>
              </a:rPr>
              <a:t>3. Kurzusok és azok oktatói, </a:t>
            </a:r>
            <a:br>
              <a:rPr lang="en-US" sz="2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300" b="1" u="none" strike="noStrike" kern="1200">
                <a:solidFill>
                  <a:srgbClr val="FFFFFF"/>
                </a:solidFill>
                <a:effectLst/>
                <a:uFillTx/>
                <a:latin typeface="+mj-lt"/>
                <a:ea typeface="+mj-ea"/>
                <a:cs typeface="+mj-cs"/>
              </a:rPr>
              <a:t>akik legalább 3 kurzust tanítanak</a:t>
            </a:r>
          </a:p>
        </p:txBody>
      </p:sp>
      <p:pic>
        <p:nvPicPr>
          <p:cNvPr id="64" name="Kép 63">
            <a:extLst>
              <a:ext uri="{FF2B5EF4-FFF2-40B4-BE49-F238E27FC236}">
                <a16:creationId xmlns:a16="http://schemas.microsoft.com/office/drawing/2014/main" id="{F6D05772-670D-F412-08C2-3FDDFCBDBC3D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949994" y="907099"/>
            <a:ext cx="5606438" cy="3854426"/>
          </a:xfrm>
          <a:prstGeom prst="rect">
            <a:avLst/>
          </a:prstGeom>
          <a:noFill/>
        </p:spPr>
      </p:pic>
      <p:sp>
        <p:nvSpPr>
          <p:cNvPr id="3" name="PlaceHolder 2">
            <a:extLst>
              <a:ext uri="{FF2B5EF4-FFF2-40B4-BE49-F238E27FC236}">
                <a16:creationId xmlns:a16="http://schemas.microsoft.com/office/drawing/2014/main" id="{2FC3D320-441A-56B3-4C11-D0AC98AD9366}"/>
              </a:ext>
            </a:extLst>
          </p:cNvPr>
          <p:cNvSpPr>
            <a:spLocks noGrp="1"/>
          </p:cNvSpPr>
          <p:nvPr>
            <p:ph type="sldNum" idx="9"/>
          </p:nvPr>
        </p:nvSpPr>
        <p:spPr>
          <a:xfrm>
            <a:off x="9123316" y="5255759"/>
            <a:ext cx="425275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87A8573-86D2-47CB-8356-882D760F769D}" type="slidenum">
              <a:rPr lang="en-US" sz="1200">
                <a:solidFill>
                  <a:schemeClr val="tx1">
                    <a:alpha val="80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10</a:t>
            </a:fld>
            <a:endParaRPr lang="en-US" sz="1200">
              <a:solidFill>
                <a:schemeClr val="tx1">
                  <a:alpha val="80000"/>
                </a:schemeClr>
              </a:solidFill>
              <a:latin typeface="+mn-lt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05D92EF1-4F51-3334-AD2C-181343490429}"/>
              </a:ext>
            </a:extLst>
          </p:cNvPr>
          <p:cNvSpPr txBox="1">
            <a:spLocks/>
          </p:cNvSpPr>
          <p:nvPr/>
        </p:nvSpPr>
        <p:spPr>
          <a:xfrm>
            <a:off x="9023088" y="4998820"/>
            <a:ext cx="745981" cy="301905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hu-HU"/>
            </a:defPPr>
            <a:lvl1pPr marL="0" indent="0" algn="r" defTabSz="914400" rtl="0" eaLnBrk="1" latinLnBrk="0" hangingPunct="1">
              <a:buNone/>
              <a:defRPr lang="hu-HU" sz="2600" b="0" u="none" strike="noStrike" kern="1200">
                <a:solidFill>
                  <a:srgbClr val="FFFFFF"/>
                </a:solidFill>
                <a:effectLst/>
                <a:uFillTx/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C933FE9D-0909-4844-89F0-81DC191A89A0}" type="slidenum">
              <a:rPr lang="en-US" smtClean="0">
                <a:solidFill>
                  <a:schemeClr val="bg1">
                    <a:alpha val="80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10</a:t>
            </a:fld>
            <a:endParaRPr lang="en-US" dirty="0">
              <a:solidFill>
                <a:schemeClr val="bg1">
                  <a:alpha val="8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05154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E192DE-8A37-09CA-300A-64CD805C0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61493" y="1233170"/>
            <a:ext cx="2756517" cy="2893139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PlaceHolder 1">
            <a:extLst>
              <a:ext uri="{FF2B5EF4-FFF2-40B4-BE49-F238E27FC236}">
                <a16:creationId xmlns:a16="http://schemas.microsoft.com/office/drawing/2014/main" id="{FA94E495-28E8-8D94-3C9B-6FA23C981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552" y="1626637"/>
            <a:ext cx="2173635" cy="210620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100" b="1" i="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4. Legnépszerűbb kurzusok listája</a:t>
            </a:r>
          </a:p>
        </p:txBody>
      </p:sp>
      <p:pic>
        <p:nvPicPr>
          <p:cNvPr id="4" name="Kép 3" descr="A képen szöveg, képernyőkép, szoftver, Multimédiás szoftve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D3DB9ABB-CD7D-5CD1-58ED-5E9041845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994" y="640793"/>
            <a:ext cx="5606438" cy="4387037"/>
          </a:xfrm>
          <a:prstGeom prst="rect">
            <a:avLst/>
          </a:prstGeom>
        </p:spPr>
      </p:pic>
      <p:sp>
        <p:nvSpPr>
          <p:cNvPr id="5" name="PlaceHolder 2">
            <a:extLst>
              <a:ext uri="{FF2B5EF4-FFF2-40B4-BE49-F238E27FC236}">
                <a16:creationId xmlns:a16="http://schemas.microsoft.com/office/drawing/2014/main" id="{DA0B4172-AB93-DD38-B099-93D39F95A569}"/>
              </a:ext>
            </a:extLst>
          </p:cNvPr>
          <p:cNvSpPr txBox="1">
            <a:spLocks/>
          </p:cNvSpPr>
          <p:nvPr/>
        </p:nvSpPr>
        <p:spPr>
          <a:xfrm>
            <a:off x="9190998" y="5104806"/>
            <a:ext cx="730867" cy="301905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hu-HU"/>
            </a:defPPr>
            <a:lvl1pPr marL="0" indent="0" algn="r" defTabSz="914400" rtl="0" eaLnBrk="1" latinLnBrk="0" hangingPunct="1">
              <a:buNone/>
              <a:defRPr lang="hu-HU" sz="2600" b="0" u="none" strike="noStrike" kern="1200">
                <a:solidFill>
                  <a:srgbClr val="FFFFFF"/>
                </a:solidFill>
                <a:effectLst/>
                <a:uFillTx/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C933FE9D-0909-4844-89F0-81DC191A89A0}" type="slidenum">
              <a:rPr lang="en-US" smtClean="0">
                <a:solidFill>
                  <a:schemeClr val="bg1">
                    <a:alpha val="80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11</a:t>
            </a:fld>
            <a:endParaRPr lang="en-US" dirty="0">
              <a:solidFill>
                <a:schemeClr val="bg1">
                  <a:alpha val="8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62607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C50996-A7B4-A739-E887-03E4703C8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61493" y="1233170"/>
            <a:ext cx="2756517" cy="2893139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PlaceHolder 1">
            <a:extLst>
              <a:ext uri="{FF2B5EF4-FFF2-40B4-BE49-F238E27FC236}">
                <a16:creationId xmlns:a16="http://schemas.microsoft.com/office/drawing/2014/main" id="{5522086B-3EC4-C588-E603-CF6B5FEC3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552" y="1626637"/>
            <a:ext cx="2173635" cy="210620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indent="0" algn="ctr"/>
            <a:r>
              <a:rPr lang="en-US" sz="2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5</a:t>
            </a:r>
            <a:r>
              <a:rPr lang="en-US" sz="2600" b="1" u="none" strike="noStrike" kern="1200">
                <a:solidFill>
                  <a:srgbClr val="FFFFFF"/>
                </a:solidFill>
                <a:effectLst/>
                <a:uFillTx/>
                <a:latin typeface="+mj-lt"/>
                <a:ea typeface="+mj-ea"/>
                <a:cs typeface="+mj-cs"/>
              </a:rPr>
              <a:t>. </a:t>
            </a:r>
            <a:r>
              <a:rPr lang="en-US" sz="2600" b="1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Diákok neve és a kurzusok, </a:t>
            </a:r>
            <a:br>
              <a:rPr lang="en-US" sz="2600" b="1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2600" b="1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amelyekre beiratkoztak</a:t>
            </a:r>
            <a:endParaRPr lang="en-US" sz="2600" b="1" u="none" strike="noStrike" kern="1200">
              <a:solidFill>
                <a:srgbClr val="FFFFFF"/>
              </a:solidFill>
              <a:effectLst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" name="Kép 3" descr="A képen szöveg, képernyőkép, szoftver, Multimédiás szoftve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C5A98054-3B34-070B-0BA6-E4D2E499BD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994" y="633786"/>
            <a:ext cx="5606438" cy="4401052"/>
          </a:xfrm>
          <a:prstGeom prst="rect">
            <a:avLst/>
          </a:prstGeom>
        </p:spPr>
      </p:pic>
      <p:sp>
        <p:nvSpPr>
          <p:cNvPr id="5" name="PlaceHolder 2">
            <a:extLst>
              <a:ext uri="{FF2B5EF4-FFF2-40B4-BE49-F238E27FC236}">
                <a16:creationId xmlns:a16="http://schemas.microsoft.com/office/drawing/2014/main" id="{257FC362-F07C-87AF-4876-5C4B549CBD9B}"/>
              </a:ext>
            </a:extLst>
          </p:cNvPr>
          <p:cNvSpPr txBox="1">
            <a:spLocks/>
          </p:cNvSpPr>
          <p:nvPr/>
        </p:nvSpPr>
        <p:spPr>
          <a:xfrm>
            <a:off x="9123316" y="4998820"/>
            <a:ext cx="645753" cy="301905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hu-HU"/>
            </a:defPPr>
            <a:lvl1pPr marL="0" indent="0" algn="r" defTabSz="914400" rtl="0" eaLnBrk="1" latinLnBrk="0" hangingPunct="1">
              <a:buNone/>
              <a:defRPr lang="hu-HU" sz="2600" b="0" u="none" strike="noStrike" kern="1200">
                <a:solidFill>
                  <a:srgbClr val="FFFFFF"/>
                </a:solidFill>
                <a:effectLst/>
                <a:uFillTx/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C933FE9D-0909-4844-89F0-81DC191A89A0}" type="slidenum">
              <a:rPr lang="en-US" smtClean="0">
                <a:solidFill>
                  <a:schemeClr val="bg1">
                    <a:alpha val="80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12</a:t>
            </a:fld>
            <a:endParaRPr lang="en-US" dirty="0">
              <a:solidFill>
                <a:schemeClr val="bg1">
                  <a:alpha val="8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22714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 rot="21111000">
            <a:off x="90000" y="41240"/>
            <a:ext cx="9000000" cy="5539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hu-HU" sz="2000" b="1" u="none" strike="noStrike" dirty="0">
                <a:effectLst/>
                <a:uFillTx/>
                <a:latin typeface="Arial"/>
              </a:rPr>
              <a:t>1. Diák kurzus kiválasztása, </a:t>
            </a:r>
            <a:br>
              <a:rPr sz="2000" dirty="0"/>
            </a:br>
            <a:r>
              <a:rPr lang="hu-HU" sz="2000" b="1" u="none" strike="noStrike" dirty="0">
                <a:effectLst/>
                <a:uFillTx/>
                <a:latin typeface="Arial"/>
              </a:rPr>
              <a:t>teszt kitöltése,  tanúsítvány kiadása</a:t>
            </a:r>
          </a:p>
        </p:txBody>
      </p:sp>
      <p:pic>
        <p:nvPicPr>
          <p:cNvPr id="66" name="Kép 65"/>
          <p:cNvPicPr/>
          <p:nvPr/>
        </p:nvPicPr>
        <p:blipFill>
          <a:blip r:embed="rId2"/>
          <a:stretch/>
        </p:blipFill>
        <p:spPr>
          <a:xfrm>
            <a:off x="1980000" y="962640"/>
            <a:ext cx="5040000" cy="443736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0E7EB9C-BAF3-4E2B-8EA6-4A213D68AAA0}" type="slidenum">
              <a:rPr/>
              <a:t>13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 rot="21111000">
            <a:off x="67680" y="236721"/>
            <a:ext cx="9019440" cy="5539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hu-HU" sz="2000" b="1" u="none" strike="noStrike" dirty="0">
                <a:effectLst/>
                <a:uFillTx/>
                <a:latin typeface="Arial"/>
              </a:rPr>
              <a:t>2. Oktató kurzus létrehozása, diákok regisztrálása, </a:t>
            </a:r>
            <a:br>
              <a:rPr sz="2000" dirty="0"/>
            </a:br>
            <a:r>
              <a:rPr lang="hu-HU" sz="2000" b="1" u="none" strike="noStrike" dirty="0">
                <a:effectLst/>
                <a:uFillTx/>
                <a:latin typeface="Arial"/>
              </a:rPr>
              <a:t>tesztelés hozzáadása</a:t>
            </a:r>
          </a:p>
        </p:txBody>
      </p:sp>
      <p:pic>
        <p:nvPicPr>
          <p:cNvPr id="68" name="Kép 67"/>
          <p:cNvPicPr/>
          <p:nvPr/>
        </p:nvPicPr>
        <p:blipFill>
          <a:blip r:embed="rId2"/>
          <a:stretch/>
        </p:blipFill>
        <p:spPr>
          <a:xfrm>
            <a:off x="2520000" y="1080000"/>
            <a:ext cx="5023080" cy="438264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8B65D527-58CB-42B6-80DF-144E74B342B5}" type="slidenum">
              <a:rPr/>
              <a:t>14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 rot="21111000">
            <a:off x="90000" y="41240"/>
            <a:ext cx="9000000" cy="5539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hu-HU" sz="2000" b="1" u="none" strike="noStrike" dirty="0">
                <a:effectLst/>
                <a:uFillTx/>
                <a:latin typeface="Arial"/>
              </a:rPr>
              <a:t>3. Diákok problémái és </a:t>
            </a:r>
            <a:br>
              <a:rPr sz="2000" dirty="0"/>
            </a:br>
            <a:r>
              <a:rPr lang="hu-HU" sz="2000" b="1" u="none" strike="noStrike" dirty="0">
                <a:effectLst/>
                <a:uFillTx/>
                <a:latin typeface="Arial"/>
              </a:rPr>
              <a:t>az ügyfélszolgálati jegyek kezelése</a:t>
            </a:r>
          </a:p>
        </p:txBody>
      </p:sp>
      <p:pic>
        <p:nvPicPr>
          <p:cNvPr id="70" name="Kép 69"/>
          <p:cNvPicPr/>
          <p:nvPr/>
        </p:nvPicPr>
        <p:blipFill>
          <a:blip r:embed="rId2"/>
          <a:stretch/>
        </p:blipFill>
        <p:spPr>
          <a:xfrm>
            <a:off x="1066680" y="1080000"/>
            <a:ext cx="7486560" cy="414000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C168A9F-4D28-4469-B8C6-00F5EB7676E5}" type="slidenum">
              <a:rPr/>
              <a:t>15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 rot="21111000">
            <a:off x="54376" y="70856"/>
            <a:ext cx="9000000" cy="5539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hu-HU" sz="2000" b="1" u="none" strike="noStrike" dirty="0">
                <a:effectLst/>
                <a:uFillTx/>
                <a:latin typeface="Arial"/>
              </a:rPr>
              <a:t>4. Kurzus vizsga eredményeinek tárolása </a:t>
            </a:r>
            <a:br>
              <a:rPr lang="hu-HU" sz="2000" b="1" u="none" strike="noStrike" dirty="0">
                <a:effectLst/>
                <a:uFillTx/>
                <a:latin typeface="Arial"/>
              </a:rPr>
            </a:br>
            <a:r>
              <a:rPr lang="hu-HU" sz="2000" b="1" u="none" strike="noStrike" dirty="0">
                <a:effectLst/>
                <a:uFillTx/>
                <a:latin typeface="Arial"/>
              </a:rPr>
              <a:t>és pontszámok kezelése</a:t>
            </a:r>
          </a:p>
        </p:txBody>
      </p:sp>
      <p:pic>
        <p:nvPicPr>
          <p:cNvPr id="72" name="Kép 71"/>
          <p:cNvPicPr/>
          <p:nvPr/>
        </p:nvPicPr>
        <p:blipFill>
          <a:blip r:embed="rId2"/>
          <a:stretch/>
        </p:blipFill>
        <p:spPr>
          <a:xfrm>
            <a:off x="890280" y="1260000"/>
            <a:ext cx="7749720" cy="363348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BA14B272-F95C-4474-A32C-D4ED1D04CA22}" type="slidenum">
              <a:rPr/>
              <a:t>16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35089-EE8D-860E-287D-AC1F01ED3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>
            <a:extLst>
              <a:ext uri="{FF2B5EF4-FFF2-40B4-BE49-F238E27FC236}">
                <a16:creationId xmlns:a16="http://schemas.microsoft.com/office/drawing/2014/main" id="{3CA65F7F-7394-BE96-B0D0-68C66D5D4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11000">
            <a:off x="54376" y="209355"/>
            <a:ext cx="9000000" cy="2769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hu-HU" sz="2000" b="1" u="none" strike="noStrike" dirty="0">
                <a:effectLst/>
                <a:uFillTx/>
                <a:latin typeface="Arial"/>
              </a:rPr>
              <a:t>5. Ügyfélszolgálati jegy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27D10DD0-9DDD-0716-CA9A-F1290AA12F23}"/>
              </a:ext>
            </a:extLst>
          </p:cNvPr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BA14B272-F95C-4474-A32C-D4ED1D04CA22}" type="slidenum">
              <a:rPr/>
              <a:t>17</a:t>
            </a:fld>
            <a:endParaRPr/>
          </a:p>
        </p:txBody>
      </p:sp>
      <p:pic>
        <p:nvPicPr>
          <p:cNvPr id="4" name="Kép 3" descr="A képen szöveg, képernyőkép, diagram, so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4147B387-000F-34C3-31D2-4AA9D3404E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129" y="1096932"/>
            <a:ext cx="6591077" cy="388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273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86606-BCA1-38F2-AB5C-55E377668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>
            <a:extLst>
              <a:ext uri="{FF2B5EF4-FFF2-40B4-BE49-F238E27FC236}">
                <a16:creationId xmlns:a16="http://schemas.microsoft.com/office/drawing/2014/main" id="{3E750378-40BB-AD7E-9363-8D9B07762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11000">
            <a:off x="54376" y="209355"/>
            <a:ext cx="9000000" cy="2769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hu-HU" sz="2000" b="1" u="none" strike="noStrike" dirty="0">
                <a:effectLst/>
                <a:uFillTx/>
                <a:latin typeface="Arial"/>
              </a:rPr>
              <a:t>5. Tanúsítvány kiadása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ABD7E76E-D882-3A11-6582-6636AE166703}"/>
              </a:ext>
            </a:extLst>
          </p:cNvPr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BA14B272-F95C-4474-A32C-D4ED1D04CA22}" type="slidenum">
              <a:rPr/>
              <a:t>18</a:t>
            </a:fld>
            <a:endParaRPr/>
          </a:p>
        </p:txBody>
      </p:sp>
      <p:pic>
        <p:nvPicPr>
          <p:cNvPr id="5" name="Kép 4" descr="A képen szöveg, képernyőkép, diagram, Párhuzamos látható">
            <a:extLst>
              <a:ext uri="{FF2B5EF4-FFF2-40B4-BE49-F238E27FC236}">
                <a16:creationId xmlns:a16="http://schemas.microsoft.com/office/drawing/2014/main" id="{E653A92F-FEB6-11E9-E37C-0538BBC1B1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086" y="1113284"/>
            <a:ext cx="7249355" cy="414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752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 rot="21111000">
            <a:off x="488160" y="2693801"/>
            <a:ext cx="9000000" cy="77559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hu-HU" sz="5600" b="1" u="none" strike="noStrike" dirty="0">
                <a:effectLst/>
                <a:uFillTx/>
                <a:latin typeface="Arial"/>
              </a:rPr>
              <a:t>Köszönöm a figyelmet!</a:t>
            </a:r>
          </a:p>
        </p:txBody>
      </p:sp>
      <p:sp>
        <p:nvSpPr>
          <p:cNvPr id="74" name="Szövegdoboz 73"/>
          <p:cNvSpPr txBox="1"/>
          <p:nvPr/>
        </p:nvSpPr>
        <p:spPr>
          <a:xfrm rot="21111000">
            <a:off x="605880" y="3508560"/>
            <a:ext cx="8984520" cy="619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algn="ctr"/>
            <a:fld id="{9AEDD8F1-158D-40CD-B34F-AA6BC6F3CA18}" type="author">
              <a:rPr lang="hu-H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fld>
            <a:endParaRPr lang="hu-H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Words>430</Words>
  <Application>Microsoft Office PowerPoint</Application>
  <PresentationFormat>Egyéni</PresentationFormat>
  <Paragraphs>78</Paragraphs>
  <Slides>19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5</vt:i4>
      </vt:variant>
      <vt:variant>
        <vt:lpstr>Diacímek</vt:lpstr>
      </vt:variant>
      <vt:variant>
        <vt:i4>19</vt:i4>
      </vt:variant>
    </vt:vector>
  </HeadingPairs>
  <TitlesOfParts>
    <vt:vector size="27" baseType="lpstr">
      <vt:lpstr>Arial</vt:lpstr>
      <vt:lpstr>Symbol</vt:lpstr>
      <vt:lpstr>Wingdings</vt:lpstr>
      <vt:lpstr>Office</vt:lpstr>
      <vt:lpstr>Office</vt:lpstr>
      <vt:lpstr>Office</vt:lpstr>
      <vt:lpstr>Office</vt:lpstr>
      <vt:lpstr>Office</vt:lpstr>
      <vt:lpstr>Csontos Kincső – IKT ProjektMunka</vt:lpstr>
      <vt:lpstr>CodeMaster Academy</vt:lpstr>
      <vt:lpstr>Rövid háttérsztori</vt:lpstr>
      <vt:lpstr>Ügyfélszolgálati sztori</vt:lpstr>
      <vt:lpstr>Adatbázis Modell</vt:lpstr>
      <vt:lpstr>Adatbázis Modell</vt:lpstr>
      <vt:lpstr>1.Legnépszerűbb kurzusok listája</vt:lpstr>
      <vt:lpstr>2. Diákok, akik 2024 előtt regisztráltak és legalább egy kurzusra beiratkoztak</vt:lpstr>
      <vt:lpstr>3. Kurzusok és azok oktatói,  akik legalább 3 kurzust tanítanak</vt:lpstr>
      <vt:lpstr>3. Kurzusok és azok oktatói,  akik legalább 3 kurzust tanítanak</vt:lpstr>
      <vt:lpstr>4. Legnépszerűbb kurzusok listája</vt:lpstr>
      <vt:lpstr>5. Diákok neve és a kurzusok,  amelyekre beiratkoztak</vt:lpstr>
      <vt:lpstr>1. Diák kurzus kiválasztása,  teszt kitöltése,  tanúsítvány kiadása</vt:lpstr>
      <vt:lpstr>2. Oktató kurzus létrehozása, diákok regisztrálása,  tesztelés hozzáadása</vt:lpstr>
      <vt:lpstr>3. Diákok problémái és  az ügyfélszolgálati jegyek kezelése</vt:lpstr>
      <vt:lpstr>4. Kurzus vizsga eredményeinek tárolása  és pontszámok kezelése</vt:lpstr>
      <vt:lpstr>5. Ügyfélszolgálati jegy</vt:lpstr>
      <vt:lpstr>5. Tanúsítvány kiadása</vt:lpstr>
      <vt:lpstr>Köszönöm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</dc:title>
  <dc:subject/>
  <dc:creator/>
  <dc:description>This work is licensed under a Creative Commons 0 License.
It makes use of the works of William Gathoye.</dc:description>
  <cp:lastModifiedBy>Csontos Kincső</cp:lastModifiedBy>
  <cp:revision>9</cp:revision>
  <dcterms:created xsi:type="dcterms:W3CDTF">2025-02-19T10:49:45Z</dcterms:created>
  <dcterms:modified xsi:type="dcterms:W3CDTF">2025-05-21T08:18:53Z</dcterms:modified>
  <dc:language>hu-HU</dc:language>
</cp:coreProperties>
</file>