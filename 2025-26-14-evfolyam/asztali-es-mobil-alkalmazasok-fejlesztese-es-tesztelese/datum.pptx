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0" r:id="rId2"/>
    <p:sldId id="371" r:id="rId3"/>
    <p:sldId id="372" r:id="rId4"/>
    <p:sldId id="256" r:id="rId5"/>
    <p:sldId id="257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7" r:id="rId14"/>
    <p:sldId id="336" r:id="rId15"/>
    <p:sldId id="338" r:id="rId16"/>
    <p:sldId id="339" r:id="rId17"/>
    <p:sldId id="340" r:id="rId18"/>
    <p:sldId id="342" r:id="rId19"/>
    <p:sldId id="341" r:id="rId2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2CDE-8A4F-4E13-BBD5-F3B64117D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CB45C-AB5C-45E6-AC61-DA5EC1095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3705E-48BB-4386-AEBD-7EF89A59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6ABB-B62A-4C82-91FA-6568FC49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EAC23-684B-4CD7-9F15-C1780176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426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454E-DAE4-4B19-85FF-3A206BD2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8E6D5-32C5-4BEF-AF00-C810CEB53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0D384-742A-4A25-A663-3C1DB60C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EBAA-7301-4C01-980C-614408C6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0DA31-1C22-4A70-BFCB-851444CA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748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9EE6-3764-47E7-A243-CDC3796C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6B3C9-B887-4185-97AD-BFCE51AA8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69FD2-9FBC-4303-935E-F95134E0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AC536-6186-4D75-95C1-6BDF62C6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B1E15-F64D-4893-8E0E-86A5968F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8254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CAE4-812C-4FD8-B8F1-131ADCFA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A990-BBEA-434B-8379-D22ABE823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9C521-1CB7-443A-8631-07122F5B5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C9146-A45C-4948-88B5-C4856D84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70681-0F7D-49CB-B28B-A8843F55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3484D-5063-4DA2-996C-72F7CBBE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836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BDD91-C0B4-405A-B6A5-CF77FB35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9F88A-AF85-46CF-92AC-74AC8CB13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D1CF4-445D-4CDF-9B81-B24D2EA0F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B7E1E-3116-4FF0-ACC3-0E722BB1E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D33B2-0DE4-49E2-A15E-E45CFE73D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DFE265-BB85-43AC-97AE-1472B9F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80B80-D71A-41BC-9A0C-8E1E33D4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979EF-FC23-4E02-B8AD-51D9187C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717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EBA8-13C9-446A-A473-81209CCC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17163-F04D-496E-A718-AD8A2318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DC8EC-79FE-407F-A2F0-26B5410C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6D74A-204A-4FFE-853F-EF78782D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162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6A905-4E53-48AF-9043-E3124D01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42535-5A7C-40E0-8871-24FECD60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400DA-62F5-40CC-A49B-CB3CC104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39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C640-ACFF-4B12-93CB-B6DE1BE1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BA75-37ED-47E6-94C4-F46CBEE1F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CDA85-6EA3-4D54-B8A4-E65AC773C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FA0E7-DCFB-44F4-807E-4D24FC7F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71C50-BCE4-41A2-B80D-161E5FFD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E1518-DF28-4F20-9F6B-D6715782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652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A27A-638B-4D3B-9FBA-2282DE6F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B9C4C-4B88-4351-9F69-413D74071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2A66D-4442-48DB-87D4-69B69C983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B6295-FB19-4694-A165-7FA6E72B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2FF28-4CD5-4603-9246-7E24C285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D4F0-2A49-478A-A7D1-D02AA5FB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720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C511-BB70-4D1B-9840-927794930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8E93D-0CD6-4FD2-8E56-A9F6A0E0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0D246-45B2-40B4-A027-8617C8D4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DD14-FE80-476B-8016-B572D541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97F96-9668-4D8B-947D-F1477FE8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595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5CC14-83BC-4EDC-9519-B8571DB44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B18C3-490E-4A92-A740-0667C6B08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DF292-46C6-4867-B142-50F647B6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B2964-F0E7-49E4-91CB-2AA1818D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2C5B0-DB17-4F1F-ADF8-8267F535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849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1951A9-C882-40D3-B412-FBCD3487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661D-C842-457C-88EB-06EC81A0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1F7E9-32D9-46AD-8952-CFA0D1BA9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EF4E9-60F8-479C-B396-D318CB854D4E}" type="datetimeFigureOut">
              <a:rPr lang="hu-HU" smtClean="0"/>
              <a:t>2023. 04. 24.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5E6C4-2D00-42D2-BB84-EDCA5CC0D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9A9DC-0617-458F-8F95-3B3D5F22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23A2E-FE47-4014-91DC-2DE6EB7FE76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F80DDB2-D5DA-471F-907D-47721D906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/>
              <a:t>Szöveg formázás</a:t>
            </a:r>
            <a:r>
              <a:rPr lang="en-US" altLang="hu-HU"/>
              <a:t> </a:t>
            </a:r>
            <a:r>
              <a:rPr lang="en-US" altLang="hu-HU">
                <a:latin typeface="Courier New" panose="02070309020205020404" pitchFamily="49" charset="0"/>
              </a:rPr>
              <a:t>printf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BA5BDED-245C-4527-8595-8A9ED5092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233363" indent="-233363" algn="ctr"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System.out.printf("</a:t>
            </a:r>
            <a:r>
              <a:rPr lang="hu-HU" altLang="hu-HU" b="1"/>
              <a:t>Szöveg</a:t>
            </a:r>
            <a:r>
              <a:rPr lang="en-US" altLang="hu-HU">
                <a:latin typeface="Courier New" panose="02070309020205020404" pitchFamily="49" charset="0"/>
              </a:rPr>
              <a:t>", </a:t>
            </a:r>
            <a:r>
              <a:rPr lang="hu-HU" altLang="hu-HU" b="1"/>
              <a:t>paraméterek</a:t>
            </a:r>
            <a:r>
              <a:rPr lang="en-US" altLang="hu-HU">
                <a:latin typeface="Courier New" panose="02070309020205020404" pitchFamily="49" charset="0"/>
              </a:rPr>
              <a:t>);</a:t>
            </a:r>
          </a:p>
          <a:p>
            <a:pPr marL="690563" lvl="1" indent="-233363">
              <a:buNone/>
              <a:tabLst>
                <a:tab pos="2057400" algn="l"/>
              </a:tabLst>
            </a:pPr>
            <a:endParaRPr lang="en-US" altLang="hu-HU"/>
          </a:p>
          <a:p>
            <a:pPr marL="233363" indent="-233363">
              <a:lnSpc>
                <a:spcPct val="110000"/>
              </a:lnSpc>
              <a:tabLst>
                <a:tab pos="2057400" algn="l"/>
              </a:tabLst>
            </a:pPr>
            <a:r>
              <a:rPr lang="en-US" altLang="hu-HU" sz="2200"/>
              <a:t>A </a:t>
            </a:r>
            <a:r>
              <a:rPr lang="hu-HU" altLang="hu-HU" sz="2200"/>
              <a:t>szöveg tartalmazhat helyeket, ahova paraméterek szúrhatók be</a:t>
            </a:r>
            <a:r>
              <a:rPr lang="en-US" altLang="hu-HU" sz="2200"/>
              <a:t>:</a:t>
            </a:r>
          </a:p>
          <a:p>
            <a:pPr marL="690563" lvl="1" indent="-2333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%d</a:t>
            </a:r>
            <a:r>
              <a:rPr lang="en-US" altLang="hu-HU"/>
              <a:t>	integer</a:t>
            </a:r>
          </a:p>
          <a:p>
            <a:pPr marL="690563" lvl="1" indent="-2333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%f</a:t>
            </a:r>
            <a:r>
              <a:rPr lang="en-US" altLang="hu-HU"/>
              <a:t>	</a:t>
            </a:r>
            <a:r>
              <a:rPr lang="hu-HU" altLang="hu-HU"/>
              <a:t>valós szám</a:t>
            </a:r>
            <a:endParaRPr lang="en-US" altLang="hu-HU"/>
          </a:p>
          <a:p>
            <a:pPr marL="690563" lvl="1" indent="-2333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%s</a:t>
            </a:r>
            <a:r>
              <a:rPr lang="en-US" altLang="hu-HU"/>
              <a:t>	string</a:t>
            </a:r>
          </a:p>
          <a:p>
            <a:pPr marL="1084263" lvl="2" indent="-169863">
              <a:tabLst>
                <a:tab pos="2057400" algn="l"/>
              </a:tabLst>
            </a:pPr>
            <a:r>
              <a:rPr lang="hu-HU" altLang="hu-HU"/>
              <a:t>Ezeket a helyeket használjuk a + konkatenálás helyett</a:t>
            </a:r>
            <a:endParaRPr lang="en-US" altLang="hu-HU"/>
          </a:p>
          <a:p>
            <a:pPr marL="1084263" lvl="2" indent="-169863">
              <a:tabLst>
                <a:tab pos="2057400" algn="l"/>
              </a:tabLst>
            </a:pPr>
            <a:endParaRPr lang="en-US" altLang="hu-HU"/>
          </a:p>
          <a:p>
            <a:pPr marL="690563" lvl="1" indent="-233363">
              <a:tabLst>
                <a:tab pos="2057400" algn="l"/>
              </a:tabLst>
            </a:pPr>
            <a:r>
              <a:rPr lang="en-US" altLang="hu-HU"/>
              <a:t>példa:</a:t>
            </a:r>
          </a:p>
          <a:p>
            <a:pPr marL="690563" lvl="1" indent="-233363">
              <a:lnSpc>
                <a:spcPct val="70000"/>
              </a:lnSpc>
              <a:buNone/>
              <a:tabLst>
                <a:tab pos="2057400" algn="l"/>
              </a:tabLst>
            </a:pPr>
            <a:endParaRPr lang="en-US" altLang="hu-HU" sz="1000">
              <a:latin typeface="Courier New" panose="02070309020205020404" pitchFamily="49" charset="0"/>
            </a:endParaRPr>
          </a:p>
          <a:p>
            <a:pPr marL="690563" lvl="1" indent="-2333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 sz="2000">
                <a:latin typeface="Courier New" panose="02070309020205020404" pitchFamily="49" charset="0"/>
              </a:rPr>
              <a:t>	int x = 3;</a:t>
            </a:r>
          </a:p>
          <a:p>
            <a:pPr marL="690563" lvl="1" indent="-2333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 sz="2000">
                <a:latin typeface="Courier New" panose="02070309020205020404" pitchFamily="49" charset="0"/>
              </a:rPr>
              <a:t>	int y = -17;</a:t>
            </a:r>
            <a:endParaRPr lang="en-US" altLang="hu-HU" sz="2000" b="1">
              <a:solidFill>
                <a:srgbClr val="008080"/>
              </a:solidFill>
              <a:latin typeface="Courier New" panose="02070309020205020404" pitchFamily="49" charset="0"/>
            </a:endParaRPr>
          </a:p>
          <a:p>
            <a:pPr marL="690563" lvl="1" indent="-2333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 sz="2000">
                <a:latin typeface="Courier New" panose="02070309020205020404" pitchFamily="49" charset="0"/>
              </a:rPr>
              <a:t>	System.out.printf("x is </a:t>
            </a:r>
            <a:r>
              <a:rPr lang="en-US" altLang="hu-HU" sz="2000" b="1">
                <a:latin typeface="Courier New" panose="02070309020205020404" pitchFamily="49" charset="0"/>
              </a:rPr>
              <a:t>%d</a:t>
            </a:r>
            <a:r>
              <a:rPr lang="en-US" altLang="hu-HU" sz="2000">
                <a:latin typeface="Courier New" panose="02070309020205020404" pitchFamily="49" charset="0"/>
              </a:rPr>
              <a:t> and y is </a:t>
            </a:r>
            <a:r>
              <a:rPr lang="en-US" altLang="hu-HU" sz="2000" b="1">
                <a:latin typeface="Courier New" panose="02070309020205020404" pitchFamily="49" charset="0"/>
              </a:rPr>
              <a:t>%d</a:t>
            </a:r>
            <a:r>
              <a:rPr lang="en-US" altLang="hu-HU" sz="2000">
                <a:latin typeface="Courier New" panose="02070309020205020404" pitchFamily="49" charset="0"/>
              </a:rPr>
              <a:t>!\n", x, y);</a:t>
            </a:r>
          </a:p>
          <a:p>
            <a:pPr marL="690563" lvl="1" indent="-2333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 sz="2000" b="1">
                <a:latin typeface="Courier New" panose="02070309020205020404" pitchFamily="49" charset="0"/>
              </a:rPr>
              <a:t>	                </a:t>
            </a:r>
            <a:r>
              <a:rPr lang="en-US" altLang="hu-HU" sz="2000" b="1">
                <a:solidFill>
                  <a:srgbClr val="008080"/>
                </a:solidFill>
                <a:latin typeface="Courier New" panose="02070309020205020404" pitchFamily="49" charset="0"/>
              </a:rPr>
              <a:t>// x is 3 and y is -17!</a:t>
            </a:r>
          </a:p>
          <a:p>
            <a:pPr marL="690563" lvl="1" indent="-233363">
              <a:buNone/>
              <a:tabLst>
                <a:tab pos="2057400" algn="l"/>
              </a:tabLst>
            </a:pPr>
            <a:endParaRPr lang="en-US" altLang="hu-HU" sz="800"/>
          </a:p>
          <a:p>
            <a:pPr marL="1084263" lvl="2" indent="-1698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printf</a:t>
            </a:r>
            <a:r>
              <a:rPr lang="en-US" altLang="hu-HU"/>
              <a:t> </a:t>
            </a:r>
            <a:r>
              <a:rPr lang="hu-HU" altLang="hu-HU"/>
              <a:t>nem ad új sort, hacsak nem használjuk a</a:t>
            </a:r>
            <a:r>
              <a:rPr lang="en-US" altLang="hu-HU"/>
              <a:t> </a:t>
            </a:r>
            <a:r>
              <a:rPr lang="en-US" altLang="hu-HU">
                <a:latin typeface="Courier New" panose="02070309020205020404" pitchFamily="49" charset="0"/>
              </a:rPr>
              <a:t>\n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0D63997-F8AC-4179-9BE3-BC05DC1C1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u-HU">
                <a:latin typeface="Courier New" panose="02070309020205020404" pitchFamily="49" charset="0"/>
              </a:rPr>
              <a:t>printf</a:t>
            </a:r>
            <a:r>
              <a:rPr lang="en-US" altLang="hu-HU"/>
              <a:t> width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0F3074B-B0FF-4C8B-9183-9BEA1601F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639763" lvl="1" indent="-2460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</a:t>
            </a:r>
            <a:r>
              <a:rPr lang="en-US" altLang="hu-HU" b="1"/>
              <a:t>W</a:t>
            </a:r>
            <a:r>
              <a:rPr lang="en-US" altLang="hu-HU">
                <a:latin typeface="Courier New" panose="02070309020205020404" pitchFamily="49" charset="0"/>
              </a:rPr>
              <a:t>d</a:t>
            </a:r>
            <a:r>
              <a:rPr lang="en-US" altLang="hu-HU"/>
              <a:t>	integer, </a:t>
            </a:r>
            <a:r>
              <a:rPr lang="en-US" altLang="hu-HU" b="1"/>
              <a:t>W</a:t>
            </a:r>
            <a:r>
              <a:rPr lang="en-US" altLang="hu-HU"/>
              <a:t> </a:t>
            </a:r>
            <a:r>
              <a:rPr lang="hu-HU" altLang="hu-HU"/>
              <a:t>karakter széles</a:t>
            </a:r>
            <a:r>
              <a:rPr lang="en-US" altLang="hu-HU"/>
              <a:t>, </a:t>
            </a:r>
            <a:r>
              <a:rPr lang="hu-HU" altLang="hu-HU"/>
              <a:t>jobbra igazított</a:t>
            </a:r>
            <a:endParaRPr lang="en-US" altLang="hu-HU"/>
          </a:p>
          <a:p>
            <a:pPr marL="639763" lvl="1" indent="-2460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%-</a:t>
            </a:r>
            <a:r>
              <a:rPr lang="en-US" altLang="hu-HU" b="1"/>
              <a:t>W</a:t>
            </a:r>
            <a:r>
              <a:rPr lang="en-US" altLang="hu-HU">
                <a:latin typeface="Courier New" panose="02070309020205020404" pitchFamily="49" charset="0"/>
              </a:rPr>
              <a:t>d</a:t>
            </a:r>
            <a:r>
              <a:rPr lang="en-US" altLang="hu-HU"/>
              <a:t>	integer, </a:t>
            </a:r>
            <a:r>
              <a:rPr lang="en-US" altLang="hu-HU" b="1"/>
              <a:t>W</a:t>
            </a:r>
            <a:r>
              <a:rPr lang="en-US" altLang="hu-HU"/>
              <a:t> </a:t>
            </a:r>
            <a:r>
              <a:rPr lang="hu-HU" altLang="hu-HU"/>
              <a:t>karakter széles</a:t>
            </a:r>
            <a:r>
              <a:rPr lang="en-US" altLang="hu-HU"/>
              <a:t>, </a:t>
            </a:r>
            <a:r>
              <a:rPr lang="hu-HU" altLang="hu-HU" i="1"/>
              <a:t>balra igazított</a:t>
            </a:r>
            <a:endParaRPr lang="en-US" altLang="hu-HU"/>
          </a:p>
          <a:p>
            <a:pPr marL="639763" lvl="1" indent="-2460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</a:t>
            </a:r>
            <a:r>
              <a:rPr lang="en-US" altLang="hu-HU" b="1"/>
              <a:t>W</a:t>
            </a:r>
            <a:r>
              <a:rPr lang="en-US" altLang="hu-HU">
                <a:latin typeface="Courier New" panose="02070309020205020404" pitchFamily="49" charset="0"/>
              </a:rPr>
              <a:t>f</a:t>
            </a:r>
            <a:r>
              <a:rPr lang="en-US" altLang="hu-HU"/>
              <a:t>	</a:t>
            </a:r>
            <a:r>
              <a:rPr lang="hu-HU" altLang="hu-HU"/>
              <a:t>valós szám</a:t>
            </a:r>
            <a:r>
              <a:rPr lang="en-US" altLang="hu-HU"/>
              <a:t>, </a:t>
            </a:r>
            <a:r>
              <a:rPr lang="en-US" altLang="hu-HU" b="1"/>
              <a:t>W</a:t>
            </a:r>
            <a:r>
              <a:rPr lang="en-US" altLang="hu-HU"/>
              <a:t> </a:t>
            </a:r>
            <a:r>
              <a:rPr lang="hu-HU" altLang="hu-HU"/>
              <a:t>karakter széles</a:t>
            </a:r>
            <a:r>
              <a:rPr lang="en-US" altLang="hu-HU"/>
              <a:t>, </a:t>
            </a:r>
            <a:r>
              <a:rPr lang="hu-HU" altLang="hu-HU"/>
              <a:t>jobbra igazított</a:t>
            </a:r>
            <a:endParaRPr lang="en-US" altLang="hu-HU"/>
          </a:p>
          <a:p>
            <a:pPr marL="639763" lvl="1" indent="-2460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...</a:t>
            </a:r>
            <a:endParaRPr lang="en-US" altLang="hu-HU"/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endParaRPr lang="en-US" altLang="hu-HU" sz="900">
              <a:latin typeface="Courier New" panose="02070309020205020404" pitchFamily="49" charset="0"/>
            </a:endParaRP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endParaRPr lang="en-US" altLang="hu-HU" sz="900">
              <a:latin typeface="Courier New" panose="02070309020205020404" pitchFamily="49" charset="0"/>
            </a:endParaRP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for (int i = 1; i &lt;= 3; i++) {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    for (int j = 1; j &lt;= 10; j++) {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        System.out.printf("</a:t>
            </a:r>
            <a:r>
              <a:rPr lang="en-US" altLang="hu-HU" b="1">
                <a:latin typeface="Courier New" panose="02070309020205020404" pitchFamily="49" charset="0"/>
              </a:rPr>
              <a:t>%4d</a:t>
            </a:r>
            <a:r>
              <a:rPr lang="en-US" altLang="hu-HU">
                <a:latin typeface="Courier New" panose="02070309020205020404" pitchFamily="49" charset="0"/>
              </a:rPr>
              <a:t>", (i * j));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    }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    System.out.println();   </a:t>
            </a:r>
            <a:r>
              <a:rPr lang="en-US" altLang="hu-HU" b="1">
                <a:solidFill>
                  <a:srgbClr val="008080"/>
                </a:solidFill>
                <a:latin typeface="Courier New" panose="02070309020205020404" pitchFamily="49" charset="0"/>
              </a:rPr>
              <a:t>// to end the line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}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endParaRPr lang="en-US" altLang="hu-HU">
              <a:latin typeface="Courier New" panose="02070309020205020404" pitchFamily="49" charset="0"/>
            </a:endParaRPr>
          </a:p>
          <a:p>
            <a:pPr marL="639763" lvl="1" indent="-246063">
              <a:buNone/>
              <a:tabLst>
                <a:tab pos="2057400" algn="l"/>
              </a:tabLst>
            </a:pPr>
            <a:r>
              <a:rPr lang="en-US" altLang="hu-HU"/>
              <a:t>Output:</a:t>
            </a:r>
            <a:endParaRPr lang="en-US" altLang="hu-HU">
              <a:latin typeface="Courier New" panose="02070309020205020404" pitchFamily="49" charset="0"/>
            </a:endParaRP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   1   2   3   4   5   6   7   8   9  10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   2   4   6   8  10  12  14  16  18  20</a:t>
            </a:r>
          </a:p>
          <a:p>
            <a:pPr marL="639763" lvl="1" indent="-246063">
              <a:lnSpc>
                <a:spcPct val="7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   3   6   9  12  15  18  21  24  27  30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486F219-F20D-414B-AC0C-FBF076AB2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hu-HU">
                <a:latin typeface="Courier New" panose="02070309020205020404" pitchFamily="49" charset="0"/>
              </a:rPr>
              <a:t>printf</a:t>
            </a:r>
            <a:r>
              <a:rPr lang="en-US" altLang="hu-HU"/>
              <a:t> precision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F1C30B7-20A3-41BA-835B-9B97761C0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39763" lvl="1" indent="-2460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%.</a:t>
            </a:r>
            <a:r>
              <a:rPr lang="en-US" altLang="hu-HU" b="1"/>
              <a:t>D</a:t>
            </a:r>
            <a:r>
              <a:rPr lang="en-US" altLang="hu-HU">
                <a:latin typeface="Courier New" panose="02070309020205020404" pitchFamily="49" charset="0"/>
              </a:rPr>
              <a:t>f</a:t>
            </a:r>
            <a:r>
              <a:rPr lang="en-US" altLang="hu-HU"/>
              <a:t>	</a:t>
            </a:r>
            <a:r>
              <a:rPr lang="hu-HU" altLang="hu-HU"/>
              <a:t>valós szám</a:t>
            </a:r>
            <a:r>
              <a:rPr lang="en-US" altLang="hu-HU"/>
              <a:t>, </a:t>
            </a:r>
            <a:r>
              <a:rPr lang="en-US" altLang="hu-HU" b="1"/>
              <a:t>D</a:t>
            </a:r>
            <a:r>
              <a:rPr lang="en-US" altLang="hu-HU"/>
              <a:t> </a:t>
            </a:r>
            <a:r>
              <a:rPr lang="hu-HU" altLang="hu-HU"/>
              <a:t>tizedes jeggyel</a:t>
            </a:r>
            <a:endParaRPr lang="en-US" altLang="hu-HU"/>
          </a:p>
          <a:p>
            <a:pPr marL="639763" lvl="1" indent="-2460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</a:t>
            </a:r>
            <a:r>
              <a:rPr lang="en-US" altLang="hu-HU" b="1"/>
              <a:t>W</a:t>
            </a:r>
            <a:r>
              <a:rPr lang="en-US" altLang="hu-HU">
                <a:latin typeface="Courier New" panose="02070309020205020404" pitchFamily="49" charset="0"/>
              </a:rPr>
              <a:t>.</a:t>
            </a:r>
            <a:r>
              <a:rPr lang="en-US" altLang="hu-HU" b="1"/>
              <a:t>D</a:t>
            </a:r>
            <a:r>
              <a:rPr lang="en-US" altLang="hu-HU">
                <a:latin typeface="Courier New" panose="02070309020205020404" pitchFamily="49" charset="0"/>
              </a:rPr>
              <a:t>f</a:t>
            </a:r>
            <a:r>
              <a:rPr lang="en-US" altLang="hu-HU"/>
              <a:t>	</a:t>
            </a:r>
            <a:r>
              <a:rPr lang="hu-HU" altLang="hu-HU"/>
              <a:t>valós szám</a:t>
            </a:r>
            <a:r>
              <a:rPr lang="en-US" altLang="hu-HU"/>
              <a:t>, </a:t>
            </a:r>
            <a:r>
              <a:rPr lang="en-US" altLang="hu-HU" b="1"/>
              <a:t>W</a:t>
            </a:r>
            <a:r>
              <a:rPr lang="en-US" altLang="hu-HU"/>
              <a:t> </a:t>
            </a:r>
            <a:r>
              <a:rPr lang="hu-HU" altLang="hu-HU"/>
              <a:t>karakter széles</a:t>
            </a:r>
            <a:r>
              <a:rPr lang="en-US" altLang="hu-HU"/>
              <a:t>, </a:t>
            </a:r>
            <a:r>
              <a:rPr lang="en-US" altLang="hu-HU" b="1"/>
              <a:t>D</a:t>
            </a:r>
            <a:r>
              <a:rPr lang="en-US" altLang="hu-HU"/>
              <a:t> </a:t>
            </a:r>
            <a:r>
              <a:rPr lang="hu-HU" altLang="hu-HU"/>
              <a:t>tizedes jeggyel</a:t>
            </a:r>
            <a:endParaRPr lang="en-US" altLang="hu-HU"/>
          </a:p>
          <a:p>
            <a:pPr marL="639763" lvl="1" indent="-246063"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%-</a:t>
            </a:r>
            <a:r>
              <a:rPr lang="en-US" altLang="hu-HU" b="1"/>
              <a:t>W</a:t>
            </a:r>
            <a:r>
              <a:rPr lang="en-US" altLang="hu-HU">
                <a:latin typeface="Courier New" panose="02070309020205020404" pitchFamily="49" charset="0"/>
              </a:rPr>
              <a:t>.</a:t>
            </a:r>
            <a:r>
              <a:rPr lang="en-US" altLang="hu-HU" b="1"/>
              <a:t>D</a:t>
            </a:r>
            <a:r>
              <a:rPr lang="en-US" altLang="hu-HU">
                <a:latin typeface="Courier New" panose="02070309020205020404" pitchFamily="49" charset="0"/>
              </a:rPr>
              <a:t>f</a:t>
            </a:r>
            <a:r>
              <a:rPr lang="en-US" altLang="hu-HU"/>
              <a:t>	</a:t>
            </a:r>
            <a:r>
              <a:rPr lang="hu-HU" altLang="hu-HU"/>
              <a:t>valós szám</a:t>
            </a:r>
            <a:r>
              <a:rPr lang="en-US" altLang="hu-HU"/>
              <a:t>, </a:t>
            </a:r>
            <a:r>
              <a:rPr lang="en-US" altLang="hu-HU" b="1"/>
              <a:t>W</a:t>
            </a:r>
            <a:r>
              <a:rPr lang="en-US" altLang="hu-HU"/>
              <a:t> </a:t>
            </a:r>
            <a:r>
              <a:rPr lang="hu-HU" altLang="hu-HU"/>
              <a:t>széles</a:t>
            </a:r>
            <a:r>
              <a:rPr lang="en-US" altLang="hu-HU"/>
              <a:t> (</a:t>
            </a:r>
            <a:r>
              <a:rPr lang="hu-HU" altLang="hu-HU"/>
              <a:t>bal</a:t>
            </a:r>
            <a:r>
              <a:rPr lang="en-US" altLang="hu-HU"/>
              <a:t>), </a:t>
            </a:r>
            <a:r>
              <a:rPr lang="en-US" altLang="hu-HU" b="1"/>
              <a:t>D</a:t>
            </a:r>
            <a:r>
              <a:rPr lang="en-US" altLang="hu-HU"/>
              <a:t> </a:t>
            </a:r>
            <a:r>
              <a:rPr lang="hu-HU" altLang="hu-HU"/>
              <a:t>tizedes jeggyel</a:t>
            </a:r>
            <a:endParaRPr lang="en-US" altLang="hu-HU" sz="1000"/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endParaRPr lang="en-US" altLang="hu-HU"/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r>
              <a:rPr lang="en-US" altLang="hu-HU" sz="2000">
                <a:latin typeface="Courier New" panose="02070309020205020404" pitchFamily="49" charset="0"/>
              </a:rPr>
              <a:t>	double gpa = 3.253764;</a:t>
            </a:r>
            <a:endParaRPr lang="en-US" altLang="hu-HU" sz="800">
              <a:latin typeface="Courier New" panose="02070309020205020404" pitchFamily="49" charset="0"/>
            </a:endParaRPr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r>
              <a:rPr lang="en-US" altLang="hu-HU" sz="2000">
                <a:latin typeface="Courier New" panose="02070309020205020404" pitchFamily="49" charset="0"/>
              </a:rPr>
              <a:t>	System.out.printf("your GPA is </a:t>
            </a:r>
            <a:r>
              <a:rPr lang="en-US" altLang="hu-HU" sz="2000" b="1">
                <a:latin typeface="Courier New" panose="02070309020205020404" pitchFamily="49" charset="0"/>
              </a:rPr>
              <a:t>%.1f</a:t>
            </a:r>
            <a:r>
              <a:rPr lang="en-US" altLang="hu-HU" sz="2000">
                <a:latin typeface="Courier New" panose="02070309020205020404" pitchFamily="49" charset="0"/>
              </a:rPr>
              <a:t>\n", gpa);</a:t>
            </a:r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r>
              <a:rPr lang="en-US" altLang="hu-HU" sz="2000">
                <a:latin typeface="Courier New" panose="02070309020205020404" pitchFamily="49" charset="0"/>
              </a:rPr>
              <a:t>	System.out.printf("more precisely: </a:t>
            </a:r>
            <a:r>
              <a:rPr lang="en-US" altLang="hu-HU" sz="2000" b="1">
                <a:latin typeface="Courier New" panose="02070309020205020404" pitchFamily="49" charset="0"/>
              </a:rPr>
              <a:t>%8.3f</a:t>
            </a:r>
            <a:r>
              <a:rPr lang="en-US" altLang="hu-HU" sz="2000">
                <a:latin typeface="Courier New" panose="02070309020205020404" pitchFamily="49" charset="0"/>
              </a:rPr>
              <a:t>\n", gpa);</a:t>
            </a:r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endParaRPr lang="en-US" altLang="hu-HU" sz="2000">
              <a:latin typeface="Courier New" panose="02070309020205020404" pitchFamily="49" charset="0"/>
            </a:endParaRPr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r>
              <a:rPr lang="en-US" altLang="hu-HU"/>
              <a:t>	Output:</a:t>
            </a:r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r>
              <a:rPr lang="en-US" altLang="hu-HU" sz="900">
                <a:latin typeface="Courier New" panose="02070309020205020404" pitchFamily="49" charset="0"/>
              </a:rPr>
              <a:t>	</a:t>
            </a:r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	your GPA is 3.3</a:t>
            </a:r>
          </a:p>
          <a:p>
            <a:pPr marL="639763" lvl="1" indent="-246063">
              <a:lnSpc>
                <a:spcPct val="80000"/>
              </a:lnSpc>
              <a:buNone/>
              <a:tabLst>
                <a:tab pos="2057400" algn="l"/>
              </a:tabLst>
            </a:pPr>
            <a:r>
              <a:rPr lang="en-US" altLang="hu-HU">
                <a:latin typeface="Courier New" panose="02070309020205020404" pitchFamily="49" charset="0"/>
              </a:rPr>
              <a:t>	more precisely:    3.254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44E8241-3C8D-4DA4-AD9A-8E60B136BBF8}"/>
              </a:ext>
            </a:extLst>
          </p:cNvPr>
          <p:cNvGrpSpPr>
            <a:grpSpLocks/>
          </p:cNvGrpSpPr>
          <p:nvPr/>
        </p:nvGrpSpPr>
        <p:grpSpPr bwMode="auto">
          <a:xfrm>
            <a:off x="4445391" y="5735639"/>
            <a:ext cx="1523614" cy="682625"/>
            <a:chOff x="2386" y="3217"/>
            <a:chExt cx="269" cy="430"/>
          </a:xfrm>
        </p:grpSpPr>
        <p:sp>
          <p:nvSpPr>
            <p:cNvPr id="54280" name="Text Box 5">
              <a:extLst>
                <a:ext uri="{FF2B5EF4-FFF2-40B4-BE49-F238E27FC236}">
                  <a16:creationId xmlns:a16="http://schemas.microsoft.com/office/drawing/2014/main" id="{37DA3463-19FA-4D74-B05D-D816A53C7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0" y="3414"/>
              <a:ext cx="1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82575" indent="-28257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500"/>
                </a:spcBef>
                <a:buClr>
                  <a:srgbClr val="800080"/>
                </a:buClr>
                <a:buSzPct val="55000"/>
              </a:pPr>
              <a:r>
                <a:rPr lang="hu-HU" altLang="hu-HU" dirty="0">
                  <a:latin typeface="Verdana" panose="020B0604030504040204" pitchFamily="34" charset="0"/>
                  <a:cs typeface="Times New Roman" panose="02020603050405020304" pitchFamily="18" charset="0"/>
                </a:rPr>
                <a:t>      </a:t>
              </a:r>
              <a:r>
                <a:rPr lang="en-US" altLang="hu-HU" dirty="0">
                  <a:latin typeface="Verdana" panose="020B0604030504040204" pitchFamily="34" charset="0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54281" name="AutoShape 6">
              <a:extLst>
                <a:ext uri="{FF2B5EF4-FFF2-40B4-BE49-F238E27FC236}">
                  <a16:creationId xmlns:a16="http://schemas.microsoft.com/office/drawing/2014/main" id="{76F4F5B8-4686-489B-9321-F4469E517B7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25" y="3178"/>
              <a:ext cx="192" cy="269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hu-HU" altLang="hu-HU"/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C67A4E94-738E-4A31-B988-D9B4425E3BAD}"/>
              </a:ext>
            </a:extLst>
          </p:cNvPr>
          <p:cNvGrpSpPr>
            <a:grpSpLocks/>
          </p:cNvGrpSpPr>
          <p:nvPr/>
        </p:nvGrpSpPr>
        <p:grpSpPr bwMode="auto">
          <a:xfrm>
            <a:off x="5502279" y="4769643"/>
            <a:ext cx="407988" cy="727074"/>
            <a:chOff x="2641" y="2580"/>
            <a:chExt cx="257" cy="458"/>
          </a:xfrm>
        </p:grpSpPr>
        <p:sp>
          <p:nvSpPr>
            <p:cNvPr id="54278" name="AutoShape 8">
              <a:extLst>
                <a:ext uri="{FF2B5EF4-FFF2-40B4-BE49-F238E27FC236}">
                  <a16:creationId xmlns:a16="http://schemas.microsoft.com/office/drawing/2014/main" id="{D1B62C02-C0BC-47DC-B7E9-8BD087557D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606" y="2746"/>
              <a:ext cx="327" cy="257"/>
            </a:xfrm>
            <a:prstGeom prst="leftBrace">
              <a:avLst>
                <a:gd name="adj1" fmla="val 1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hu-HU" altLang="hu-HU"/>
            </a:p>
          </p:txBody>
        </p:sp>
        <p:sp>
          <p:nvSpPr>
            <p:cNvPr id="54279" name="Text Box 9">
              <a:extLst>
                <a:ext uri="{FF2B5EF4-FFF2-40B4-BE49-F238E27FC236}">
                  <a16:creationId xmlns:a16="http://schemas.microsoft.com/office/drawing/2014/main" id="{0F277379-AABD-4512-A907-28C0D042D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2" y="2580"/>
              <a:ext cx="2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82575" indent="-28257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500"/>
                </a:spcBef>
                <a:buClr>
                  <a:srgbClr val="800080"/>
                </a:buClr>
                <a:buSzPct val="55000"/>
              </a:pPr>
              <a:r>
                <a:rPr lang="en-US" altLang="hu-HU">
                  <a:latin typeface="Verdana" panose="020B060403050404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8E8BF3A-E4AD-450B-937F-F0300C203B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u-HU" altLang="hu-HU"/>
              <a:t>Dátum és idő</a:t>
            </a:r>
            <a:r>
              <a:rPr lang="en-US" altLang="hu-HU"/>
              <a:t/>
            </a:r>
            <a:br>
              <a:rPr lang="en-US" altLang="hu-HU"/>
            </a:br>
            <a:endParaRPr lang="en-US" altLang="hu-HU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6817CFF-7DD7-4CE8-A8CC-1CD7EE7A03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hu-H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10D8AEB-E8CD-4FB0-8A78-B0B3D1E61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/>
              <a:t>Dátum típus</a:t>
            </a:r>
            <a:endParaRPr lang="en-US" altLang="hu-HU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D582903-7934-4FBA-B918-E1F127F30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altLang="hu-HU" sz="2200">
                <a:latin typeface="Courier New" panose="02070309020205020404" pitchFamily="49" charset="0"/>
              </a:rPr>
              <a:t>Java szolgáltat egy Date osztályt a dátumok és az idők kezelésére</a:t>
            </a:r>
          </a:p>
          <a:p>
            <a:pPr eaLnBrk="1" hangingPunct="1">
              <a:lnSpc>
                <a:spcPct val="90000"/>
              </a:lnSpc>
            </a:pPr>
            <a:r>
              <a:rPr lang="hu-HU" altLang="hu-HU" sz="2200">
                <a:latin typeface="Courier New" panose="02070309020205020404" pitchFamily="49" charset="0"/>
              </a:rPr>
              <a:t>A Date osztály a java.util csomag része</a:t>
            </a:r>
          </a:p>
          <a:p>
            <a:pPr eaLnBrk="1" hangingPunct="1">
              <a:lnSpc>
                <a:spcPct val="90000"/>
              </a:lnSpc>
            </a:pPr>
            <a:endParaRPr lang="hu-HU" altLang="hu-HU" sz="22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hu-HU" altLang="hu-HU" sz="2200">
                <a:latin typeface="Courier New" panose="02070309020205020404" pitchFamily="49" charset="0"/>
              </a:rPr>
              <a:t>Két konstruktora van:</a:t>
            </a:r>
          </a:p>
          <a:p>
            <a:pPr lvl="1" eaLnBrk="1" hangingPunct="1">
              <a:lnSpc>
                <a:spcPct val="90000"/>
              </a:lnSpc>
            </a:pPr>
            <a:r>
              <a:rPr lang="hu-HU" altLang="hu-HU" sz="2000">
                <a:latin typeface="Courier New" panose="02070309020205020404" pitchFamily="49" charset="0"/>
              </a:rPr>
              <a:t>Date()				</a:t>
            </a:r>
          </a:p>
          <a:p>
            <a:pPr lvl="2" eaLnBrk="1" hangingPunct="1">
              <a:lnSpc>
                <a:spcPct val="90000"/>
              </a:lnSpc>
            </a:pPr>
            <a:r>
              <a:rPr lang="hu-HU" altLang="hu-HU" sz="1800">
                <a:latin typeface="Courier New" panose="02070309020205020404" pitchFamily="49" charset="0"/>
              </a:rPr>
              <a:t>Az aktuális dátummal</a:t>
            </a:r>
          </a:p>
          <a:p>
            <a:pPr lvl="1" eaLnBrk="1" hangingPunct="1">
              <a:lnSpc>
                <a:spcPct val="90000"/>
              </a:lnSpc>
            </a:pPr>
            <a:endParaRPr lang="hu-HU" altLang="hu-HU" sz="200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hu-HU" altLang="hu-HU" sz="2000">
                <a:latin typeface="Courier New" panose="02070309020205020404" pitchFamily="49" charset="0"/>
              </a:rPr>
              <a:t>Date(long millisec)		</a:t>
            </a:r>
          </a:p>
          <a:p>
            <a:pPr lvl="2" eaLnBrk="1" hangingPunct="1">
              <a:lnSpc>
                <a:spcPct val="90000"/>
              </a:lnSpc>
            </a:pPr>
            <a:r>
              <a:rPr lang="hu-HU" altLang="hu-HU" sz="1800">
                <a:latin typeface="Courier New" panose="02070309020205020404" pitchFamily="49" charset="0"/>
              </a:rPr>
              <a:t>Az 1970.01.01 éjféltől eltelt idő ezredmásodpercekben mérve</a:t>
            </a:r>
            <a:endParaRPr lang="en-US" altLang="hu-HU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923C4E5-A038-420E-B125-7E63C82E3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/>
              <a:t>Date metódusok 1.</a:t>
            </a:r>
            <a:endParaRPr lang="en-US" altLang="hu-HU"/>
          </a:p>
        </p:txBody>
      </p:sp>
      <p:sp>
        <p:nvSpPr>
          <p:cNvPr id="5123" name="Tartalom helye 4">
            <a:extLst>
              <a:ext uri="{FF2B5EF4-FFF2-40B4-BE49-F238E27FC236}">
                <a16:creationId xmlns:a16="http://schemas.microsoft.com/office/drawing/2014/main" id="{67F6DBE1-E237-478A-A5E0-F055DDDEA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hu-HU" b="1"/>
              <a:t>boolean after(Date date)</a:t>
            </a:r>
            <a:endParaRPr lang="en-US" altLang="hu-HU"/>
          </a:p>
          <a:p>
            <a:pPr lvl="1"/>
            <a:r>
              <a:rPr lang="hu-HU" altLang="hu-HU"/>
              <a:t>Visszatérési abban az esetben igaz, ha a megadott dátum objektum későbbi időpontot tárol, mint a hívó objektumban tárolt dátum. Más esetben hamis értékkel tér vissza.</a:t>
            </a:r>
            <a:endParaRPr lang="en-US" altLang="hu-HU"/>
          </a:p>
          <a:p>
            <a:r>
              <a:rPr lang="en-US" altLang="hu-HU" b="1"/>
              <a:t>boolean before(Date date)</a:t>
            </a:r>
            <a:endParaRPr lang="en-US" altLang="hu-HU"/>
          </a:p>
          <a:p>
            <a:pPr lvl="1"/>
            <a:r>
              <a:rPr lang="hu-HU" altLang="hu-HU"/>
              <a:t>Visszatérési abban az esetben igaz, ha a megadott dátum objektum előbbi időpontot tárol, mint a hívó objektumban tárolt dátum. Más esetben hamis értékkel tér vissza.</a:t>
            </a:r>
            <a:endParaRPr lang="en-US" altLang="hu-HU"/>
          </a:p>
          <a:p>
            <a:r>
              <a:rPr lang="en-US" altLang="hu-HU" b="1"/>
              <a:t>int compareTo(Date date)</a:t>
            </a:r>
            <a:endParaRPr lang="en-US" altLang="hu-HU"/>
          </a:p>
          <a:p>
            <a:pPr lvl="1"/>
            <a:r>
              <a:rPr lang="hu-HU" altLang="hu-HU"/>
              <a:t>Két dátum érték összehasonlítása</a:t>
            </a:r>
            <a:r>
              <a:rPr lang="en-US" altLang="hu-HU"/>
              <a:t>. 0</a:t>
            </a:r>
            <a:r>
              <a:rPr lang="hu-HU" altLang="hu-HU"/>
              <a:t> értékkel tér vissza, ha a két dátum egyenlő. Negatív értékkel tér vissza, ha a hívó objektumban tárolt érték korábbi, mint a megadott dátum. Pozitív értékel tér vissza, ha a hívó objektumban tárolt érték későbbi, mint a megadott dátum.</a:t>
            </a:r>
            <a:endParaRPr lang="en-US" altLang="hu-HU"/>
          </a:p>
          <a:p>
            <a:endParaRPr lang="hu-HU" altLang="hu-H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ím 1">
            <a:extLst>
              <a:ext uri="{FF2B5EF4-FFF2-40B4-BE49-F238E27FC236}">
                <a16:creationId xmlns:a16="http://schemas.microsoft.com/office/drawing/2014/main" id="{831A6610-A72D-47FE-A269-FCD2E8B8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Date metódusok 2.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C036F9-215C-40D5-BBF4-7D38C3C18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/>
              <a:t>boolean</a:t>
            </a:r>
            <a:r>
              <a:rPr lang="en-US" b="1" dirty="0"/>
              <a:t> equals(Object date)</a:t>
            </a:r>
            <a:endParaRPr lang="en-US" dirty="0"/>
          </a:p>
          <a:p>
            <a:pPr lvl="1">
              <a:defRPr/>
            </a:pPr>
            <a:r>
              <a:rPr lang="hu-HU" dirty="0"/>
              <a:t>Igaz értékkel tér vissza, amennyiben a dátum objektum ugyanazt az időpontot és dátum értéket tartalmazza, mint a megadott dátum.</a:t>
            </a:r>
          </a:p>
          <a:p>
            <a:pPr>
              <a:defRPr/>
            </a:pPr>
            <a:r>
              <a:rPr lang="en-US" b="1" dirty="0"/>
              <a:t>long </a:t>
            </a:r>
            <a:r>
              <a:rPr lang="en-US" b="1" dirty="0" err="1"/>
              <a:t>getTime</a:t>
            </a:r>
            <a:r>
              <a:rPr lang="en-US" b="1" dirty="0"/>
              <a:t>( )</a:t>
            </a:r>
            <a:endParaRPr lang="en-US" dirty="0"/>
          </a:p>
          <a:p>
            <a:pPr lvl="1">
              <a:defRPr/>
            </a:pPr>
            <a:r>
              <a:rPr lang="hu-HU" dirty="0"/>
              <a:t>Az 1970. január 1. éjfél óta eltelt időértéket adja vissza ezredmásodpercben.</a:t>
            </a:r>
            <a:endParaRPr lang="en-US" dirty="0"/>
          </a:p>
          <a:p>
            <a:pPr>
              <a:defRPr/>
            </a:pPr>
            <a:r>
              <a:rPr lang="en-US" b="1" dirty="0"/>
              <a:t>String </a:t>
            </a:r>
            <a:r>
              <a:rPr lang="en-US" b="1" dirty="0" err="1"/>
              <a:t>toString</a:t>
            </a:r>
            <a:r>
              <a:rPr lang="en-US" b="1" dirty="0"/>
              <a:t>( )</a:t>
            </a:r>
            <a:endParaRPr lang="en-US" dirty="0"/>
          </a:p>
          <a:p>
            <a:pPr lvl="1">
              <a:defRPr/>
            </a:pPr>
            <a:r>
              <a:rPr lang="hu-HU" dirty="0"/>
              <a:t>A dátum értéket szöveggé alakítja.</a:t>
            </a:r>
            <a:endParaRPr lang="en-US" dirty="0"/>
          </a:p>
          <a:p>
            <a:pPr marL="346075" lvl="1" indent="0">
              <a:buNone/>
              <a:defRPr/>
            </a:pPr>
            <a:endParaRPr lang="en-US" dirty="0"/>
          </a:p>
          <a:p>
            <a:pPr>
              <a:defRPr/>
            </a:pP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ím 1">
            <a:extLst>
              <a:ext uri="{FF2B5EF4-FFF2-40B4-BE49-F238E27FC236}">
                <a16:creationId xmlns:a16="http://schemas.microsoft.com/office/drawing/2014/main" id="{01FFBCE3-1AA7-4627-81DD-E8418A0F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Dátumok formázása</a:t>
            </a:r>
          </a:p>
        </p:txBody>
      </p:sp>
      <p:sp>
        <p:nvSpPr>
          <p:cNvPr id="7171" name="Tartalom helye 2">
            <a:extLst>
              <a:ext uri="{FF2B5EF4-FFF2-40B4-BE49-F238E27FC236}">
                <a16:creationId xmlns:a16="http://schemas.microsoft.com/office/drawing/2014/main" id="{64210337-7E77-4740-9583-710E2B203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altLang="hu-HU" dirty="0"/>
              <a:t>A SimpleDateFormat osztályt használhatjuk dátumok formázására.</a:t>
            </a:r>
          </a:p>
          <a:p>
            <a:r>
              <a:rPr lang="hu-HU" altLang="hu-HU" dirty="0"/>
              <a:t>Egy, a felhasználó által beállított mintát használhatunk egyedi dátumformátumok kialakítására.</a:t>
            </a:r>
          </a:p>
          <a:p>
            <a:r>
              <a:rPr lang="hu-HU" altLang="hu-HU" dirty="0"/>
              <a:t>Pl.:</a:t>
            </a:r>
          </a:p>
          <a:p>
            <a:endParaRPr lang="hu-HU" altLang="hu-HU" dirty="0"/>
          </a:p>
          <a:p>
            <a:pPr marL="346075" lvl="1" indent="0">
              <a:buNone/>
            </a:pPr>
            <a:r>
              <a:rPr lang="hu-HU" altLang="hu-H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Date d = new Date();</a:t>
            </a:r>
          </a:p>
          <a:p>
            <a:pPr marL="346075" lvl="1" indent="0">
              <a:buNone/>
            </a:pPr>
            <a:r>
              <a:rPr lang="hu-HU" altLang="hu-H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SimpleDateFormat ft = </a:t>
            </a:r>
            <a:br>
              <a:rPr lang="hu-HU" altLang="hu-HU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altLang="hu-H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new SimpleDateFormat ("E yyyy.MM.dd 'at' hh:mm:ss a zzz");</a:t>
            </a:r>
          </a:p>
          <a:p>
            <a:pPr marL="346075" lvl="1" indent="0">
              <a:buNone/>
            </a:pPr>
            <a:r>
              <a:rPr lang="hu-HU" altLang="hu-H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System.out.println("Current Date: " + ft.format(d));</a:t>
            </a:r>
          </a:p>
          <a:p>
            <a:pPr marL="346075" lvl="1" indent="0">
              <a:buNone/>
            </a:pPr>
            <a:endParaRPr lang="hu-HU" altLang="hu-HU" dirty="0"/>
          </a:p>
          <a:p>
            <a:pPr marL="346075" lvl="1" indent="0">
              <a:buNone/>
            </a:pPr>
            <a:endParaRPr lang="hu-HU" alt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ím 1">
            <a:extLst>
              <a:ext uri="{FF2B5EF4-FFF2-40B4-BE49-F238E27FC236}">
                <a16:creationId xmlns:a16="http://schemas.microsoft.com/office/drawing/2014/main" id="{70488F23-AA2A-4A3B-ACB4-D30669BD6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Formátum kódok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2DAC31E4-080A-46E8-9889-5345366B11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140076" y="1295401"/>
          <a:ext cx="6064251" cy="5181603"/>
        </p:xfrm>
        <a:graphic>
          <a:graphicData uri="http://schemas.openxmlformats.org/drawingml/2006/table">
            <a:tbl>
              <a:tblPr/>
              <a:tblGrid>
                <a:gridCol w="202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743">
                <a:tc>
                  <a:txBody>
                    <a:bodyPr/>
                    <a:lstStyle/>
                    <a:p>
                      <a:pPr algn="ctr"/>
                      <a:r>
                        <a:rPr lang="hu-HU" sz="1200">
                          <a:effectLst/>
                        </a:rPr>
                        <a:t>Character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200">
                          <a:effectLst/>
                        </a:rPr>
                        <a:t>Description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200">
                          <a:effectLst/>
                        </a:rPr>
                        <a:t>Example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G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 err="1"/>
                        <a:t>Era</a:t>
                      </a:r>
                      <a:r>
                        <a:rPr lang="hu-HU" sz="1200" dirty="0"/>
                        <a:t> </a:t>
                      </a:r>
                      <a:r>
                        <a:rPr lang="hu-HU" sz="1200" dirty="0" err="1"/>
                        <a:t>designator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AD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y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Év</a:t>
                      </a:r>
                      <a:r>
                        <a:rPr lang="hu-HU" sz="1200" baseline="0" dirty="0"/>
                        <a:t> négy karakter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2001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M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Hónap az évben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 err="1"/>
                        <a:t>July</a:t>
                      </a:r>
                      <a:r>
                        <a:rPr lang="hu-HU" sz="1200" dirty="0"/>
                        <a:t> vagy 07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 dirty="0"/>
                        <a:t>d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Nap</a:t>
                      </a:r>
                      <a:r>
                        <a:rPr lang="hu-HU" sz="1200" baseline="0" dirty="0"/>
                        <a:t> a hónapban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10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h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Óra</a:t>
                      </a:r>
                      <a:r>
                        <a:rPr lang="en-US" sz="1200" dirty="0"/>
                        <a:t> A.M./P.M. (1~12)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12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H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Óra a napban (0~23)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22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m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Perc</a:t>
                      </a:r>
                      <a:r>
                        <a:rPr lang="hu-HU" sz="1200" baseline="0" dirty="0"/>
                        <a:t> az órában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30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s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Másodperc a percben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55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S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Ezredmásodperc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234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E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Nap</a:t>
                      </a:r>
                      <a:r>
                        <a:rPr lang="hu-HU" sz="1200" baseline="0" dirty="0"/>
                        <a:t> a héten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Kedd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D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Nap</a:t>
                      </a:r>
                      <a:r>
                        <a:rPr lang="hu-HU" sz="1200" baseline="0" dirty="0"/>
                        <a:t> az évben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360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F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Hónap</a:t>
                      </a:r>
                      <a:r>
                        <a:rPr lang="hu-HU" sz="1200" baseline="0" dirty="0"/>
                        <a:t> …</a:t>
                      </a:r>
                      <a:endParaRPr lang="en-US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 (</a:t>
                      </a:r>
                      <a:r>
                        <a:rPr lang="hu-HU" sz="1200" dirty="0"/>
                        <a:t>2. szerda a hónapban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w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Hét</a:t>
                      </a:r>
                      <a:r>
                        <a:rPr lang="hu-HU" sz="1200" baseline="0" dirty="0"/>
                        <a:t> az évben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40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W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Hét</a:t>
                      </a:r>
                      <a:r>
                        <a:rPr lang="hu-HU" sz="1200" baseline="0" dirty="0"/>
                        <a:t> a hónapban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1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a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A.M./P.M. marker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PM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k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Óra (1~24)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24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K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Óra</a:t>
                      </a:r>
                      <a:r>
                        <a:rPr lang="en-US" sz="1200" dirty="0"/>
                        <a:t> A.M./P.M. (0~11)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10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z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Időzóna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Kelet</a:t>
                      </a:r>
                      <a:r>
                        <a:rPr lang="hu-HU" sz="1200" baseline="0" dirty="0"/>
                        <a:t> Európai időzóna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'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Szövegek</a:t>
                      </a:r>
                      <a:r>
                        <a:rPr lang="hu-HU" sz="1200" baseline="0" dirty="0"/>
                        <a:t> kiírásához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Felső</a:t>
                      </a:r>
                      <a:r>
                        <a:rPr lang="hu-HU" sz="1200" baseline="0" dirty="0"/>
                        <a:t> vessző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6743">
                <a:tc>
                  <a:txBody>
                    <a:bodyPr/>
                    <a:lstStyle/>
                    <a:p>
                      <a:r>
                        <a:rPr lang="hu-HU" sz="1200"/>
                        <a:t>"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 err="1"/>
                        <a:t>Single</a:t>
                      </a:r>
                      <a:r>
                        <a:rPr lang="hu-HU" sz="1200" dirty="0"/>
                        <a:t> </a:t>
                      </a:r>
                      <a:r>
                        <a:rPr lang="hu-HU" sz="1200" dirty="0" err="1"/>
                        <a:t>quote</a:t>
                      </a:r>
                      <a:endParaRPr lang="hu-HU" sz="1200" dirty="0"/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200" dirty="0"/>
                        <a:t>`</a:t>
                      </a:r>
                    </a:p>
                  </a:txBody>
                  <a:tcPr marL="61671" marR="61671" marT="30843" marB="308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ím 1">
            <a:extLst>
              <a:ext uri="{FF2B5EF4-FFF2-40B4-BE49-F238E27FC236}">
                <a16:creationId xmlns:a16="http://schemas.microsoft.com/office/drawing/2014/main" id="{EB3754AB-08F8-4A7C-BB05-A118315F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Adott dátum megadása</a:t>
            </a:r>
          </a:p>
        </p:txBody>
      </p:sp>
      <p:sp>
        <p:nvSpPr>
          <p:cNvPr id="9219" name="Tartalom helye 2">
            <a:extLst>
              <a:ext uri="{FF2B5EF4-FFF2-40B4-BE49-F238E27FC236}">
                <a16:creationId xmlns:a16="http://schemas.microsoft.com/office/drawing/2014/main" id="{EAC00AF7-53AD-47E8-B808-F9BBB353A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SimpleDateFormat sdf = </a:t>
            </a: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new SimpleDateFormat("yyyy-MM-dd");</a:t>
            </a: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try{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     Date szuletesnap = sdf.parse("1967-10-08");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     System.out.println(sdf.format(szuletesnap));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}catch(ParseException e){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     System.out.println("Hibás dátumformátum!");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sdf.parse("1966-25-35");  //Nem hibás!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ím 1">
            <a:extLst>
              <a:ext uri="{FF2B5EF4-FFF2-40B4-BE49-F238E27FC236}">
                <a16:creationId xmlns:a16="http://schemas.microsoft.com/office/drawing/2014/main" id="{4F3060A9-374E-4B9E-85E4-D39557D7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Eltelt napok száma</a:t>
            </a:r>
          </a:p>
        </p:txBody>
      </p:sp>
      <p:sp>
        <p:nvSpPr>
          <p:cNvPr id="10243" name="Tartalom helye 2">
            <a:extLst>
              <a:ext uri="{FF2B5EF4-FFF2-40B4-BE49-F238E27FC236}">
                <a16:creationId xmlns:a16="http://schemas.microsoft.com/office/drawing/2014/main" id="{D53E1142-1E63-4C4C-9EFC-900F10002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altLang="hu-HU"/>
              <a:t>TimeUnit felsorolás típus, ami segítséget nyújt az eltelt idők megadott mértékegység szerinti konvertálásához.</a:t>
            </a:r>
          </a:p>
          <a:p>
            <a:r>
              <a:rPr lang="hu-HU" altLang="hu-HU"/>
              <a:t>A java.util.concurrent csomag része.</a:t>
            </a:r>
          </a:p>
          <a:p>
            <a:r>
              <a:rPr lang="hu-HU" altLang="hu-HU"/>
              <a:t>Nem osztály, nem kell példányosítani.</a:t>
            </a:r>
          </a:p>
          <a:p>
            <a:r>
              <a:rPr lang="hu-HU" altLang="hu-HU"/>
              <a:t>Pl.:</a:t>
            </a:r>
          </a:p>
          <a:p>
            <a:pPr marL="346075" lvl="1" indent="0">
              <a:buNone/>
            </a:pP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TimeUnit.DAYS.convert(date1.getTime() – date2.getTime(), TimeUnit.MILLISECONDS));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ím 1">
            <a:extLst>
              <a:ext uri="{FF2B5EF4-FFF2-40B4-BE49-F238E27FC236}">
                <a16:creationId xmlns:a16="http://schemas.microsoft.com/office/drawing/2014/main" id="{574A5208-03E0-4FB1-86BD-D33D067C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Dátumok kiírása printf 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215105-CC27-4846-B96C-B618156A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hu-HU" dirty="0"/>
              <a:t>A dátum értékeket a </a:t>
            </a:r>
            <a:r>
              <a:rPr lang="hu-HU" dirty="0" err="1"/>
              <a:t>printf</a:t>
            </a:r>
            <a:r>
              <a:rPr lang="hu-HU" dirty="0"/>
              <a:t> függvénnyel is kiírhatjuk.</a:t>
            </a:r>
          </a:p>
          <a:p>
            <a:pPr>
              <a:defRPr/>
            </a:pPr>
            <a:r>
              <a:rPr lang="hu-HU" dirty="0"/>
              <a:t>A </a:t>
            </a:r>
            <a:r>
              <a:rPr lang="hu-HU" dirty="0" err="1"/>
              <a:t>printf</a:t>
            </a:r>
            <a:r>
              <a:rPr lang="hu-HU" dirty="0"/>
              <a:t> függvény több </a:t>
            </a:r>
            <a:r>
              <a:rPr lang="hu-HU" dirty="0" err="1"/>
              <a:t>argumentummall</a:t>
            </a:r>
            <a:r>
              <a:rPr lang="hu-HU" dirty="0"/>
              <a:t> hívható. Az első paramétere, egy idézőjelek közötti </a:t>
            </a:r>
            <a:r>
              <a:rPr lang="hu-HU" dirty="0" err="1"/>
              <a:t>stringből</a:t>
            </a:r>
            <a:r>
              <a:rPr lang="hu-HU" dirty="0"/>
              <a:t> áll. A </a:t>
            </a:r>
            <a:r>
              <a:rPr lang="hu-HU" dirty="0" err="1"/>
              <a:t>string</a:t>
            </a:r>
            <a:r>
              <a:rPr lang="hu-HU" dirty="0"/>
              <a:t> tartalmazhat szöveget, amit a </a:t>
            </a:r>
            <a:r>
              <a:rPr lang="hu-HU" dirty="0" err="1"/>
              <a:t>printf</a:t>
            </a:r>
            <a:r>
              <a:rPr lang="hu-HU" dirty="0"/>
              <a:t> kiír és tartalmazhat kétbetűs karaktereket, amelyek alapján az első paraméter után megadott értékeket helyettesíti be a megadott formátumban.</a:t>
            </a:r>
          </a:p>
          <a:p>
            <a:pPr>
              <a:defRPr/>
            </a:pPr>
            <a:r>
              <a:rPr lang="hu-HU" dirty="0"/>
              <a:t>Pl.:</a:t>
            </a:r>
          </a:p>
          <a:p>
            <a:pPr marL="0" indent="0">
              <a:buNone/>
              <a:defRPr/>
            </a:pP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”Dátum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Idő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: %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date );</a:t>
            </a:r>
            <a:endParaRPr lang="hu-H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hu-HU" dirty="0"/>
          </a:p>
          <a:p>
            <a:pPr>
              <a:defRPr/>
            </a:pPr>
            <a:r>
              <a:rPr lang="hu-HU" dirty="0"/>
              <a:t>A kétbetűs karakter a % jel után kezdődik, a t jelenti, hogy dátum-idő típust kell megadni. A második paraméter a dátum formátuma.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ím 1">
            <a:extLst>
              <a:ext uri="{FF2B5EF4-FFF2-40B4-BE49-F238E27FC236}">
                <a16:creationId xmlns:a16="http://schemas.microsoft.com/office/drawing/2014/main" id="{901F0845-7AC0-4A9B-9E71-F060266FD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printf paraméterek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29D386C4-0F87-43F6-83B6-76F17839FA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54201" y="1295401"/>
          <a:ext cx="8636001" cy="5159419"/>
        </p:xfrm>
        <a:graphic>
          <a:graphicData uri="http://schemas.openxmlformats.org/drawingml/2006/table">
            <a:tbl>
              <a:tblPr/>
              <a:tblGrid>
                <a:gridCol w="287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277">
                <a:tc>
                  <a:txBody>
                    <a:bodyPr/>
                    <a:lstStyle/>
                    <a:p>
                      <a:pPr algn="ctr"/>
                      <a:r>
                        <a:rPr lang="hu-HU" sz="1700" dirty="0">
                          <a:effectLst/>
                        </a:rPr>
                        <a:t>Vezérlő</a:t>
                      </a:r>
                      <a:r>
                        <a:rPr lang="hu-HU" sz="1700" baseline="0" dirty="0">
                          <a:effectLst/>
                        </a:rPr>
                        <a:t> karakter</a:t>
                      </a:r>
                      <a:endParaRPr lang="hu-HU" sz="1700" dirty="0">
                        <a:effectLst/>
                      </a:endParaRP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700" dirty="0">
                          <a:effectLst/>
                        </a:rPr>
                        <a:t>Leírás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700" dirty="0">
                          <a:effectLst/>
                        </a:rPr>
                        <a:t>Példa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734">
                <a:tc>
                  <a:txBody>
                    <a:bodyPr/>
                    <a:lstStyle/>
                    <a:p>
                      <a:pPr fontAlgn="ctr"/>
                      <a:r>
                        <a:rPr lang="hu-HU" sz="1700">
                          <a:effectLst/>
                        </a:rPr>
                        <a:t>c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hu-HU" sz="1700" dirty="0">
                          <a:effectLst/>
                        </a:rPr>
                        <a:t>Komplett dátum és idő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Mon May 04 09:51:52 CDT 2009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86">
                <a:tc>
                  <a:txBody>
                    <a:bodyPr/>
                    <a:lstStyle/>
                    <a:p>
                      <a:r>
                        <a:rPr lang="hu-HU" sz="1700" dirty="0"/>
                        <a:t>F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ISO 8601 dátum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/>
                        <a:t>2004-02-09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734">
                <a:tc>
                  <a:txBody>
                    <a:bodyPr/>
                    <a:lstStyle/>
                    <a:p>
                      <a:r>
                        <a:rPr lang="hu-HU" sz="1700"/>
                        <a:t>D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U.S dátum (hónap/nap/év)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/>
                        <a:t>02/09/2004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86">
                <a:tc>
                  <a:txBody>
                    <a:bodyPr/>
                    <a:lstStyle/>
                    <a:p>
                      <a:r>
                        <a:rPr lang="hu-HU" sz="1700"/>
                        <a:t>T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24-órás forma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/>
                        <a:t>18:05:19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277">
                <a:tc>
                  <a:txBody>
                    <a:bodyPr/>
                    <a:lstStyle/>
                    <a:p>
                      <a:r>
                        <a:rPr lang="hu-HU" sz="1700"/>
                        <a:t>r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12-órás</a:t>
                      </a:r>
                      <a:r>
                        <a:rPr lang="hu-HU" sz="1700" baseline="0" dirty="0"/>
                        <a:t> forma</a:t>
                      </a:r>
                      <a:endParaRPr lang="hu-HU" sz="1700" dirty="0"/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/>
                        <a:t>06:05:19 pm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952">
                <a:tc>
                  <a:txBody>
                    <a:bodyPr/>
                    <a:lstStyle/>
                    <a:p>
                      <a:r>
                        <a:rPr lang="hu-HU" sz="1700"/>
                        <a:t>R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24-órás</a:t>
                      </a:r>
                      <a:r>
                        <a:rPr lang="hu-HU" sz="1700" baseline="0" dirty="0"/>
                        <a:t>, másodpercek nélkül</a:t>
                      </a:r>
                      <a:endParaRPr lang="hu-HU" sz="1700" dirty="0"/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/>
                        <a:t>18:05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886">
                <a:tc>
                  <a:txBody>
                    <a:bodyPr/>
                    <a:lstStyle/>
                    <a:p>
                      <a:r>
                        <a:rPr lang="hu-HU" sz="1700"/>
                        <a:t>Y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Négy számjegyes év</a:t>
                      </a:r>
                      <a:endParaRPr lang="en-US" sz="1700" dirty="0"/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/>
                        <a:t>2004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4734">
                <a:tc>
                  <a:txBody>
                    <a:bodyPr/>
                    <a:lstStyle/>
                    <a:p>
                      <a:pPr fontAlgn="ctr"/>
                      <a:r>
                        <a:rPr lang="hu-HU" sz="1700">
                          <a:effectLst/>
                        </a:rPr>
                        <a:t>y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Év utolsó</a:t>
                      </a:r>
                      <a:r>
                        <a:rPr lang="hu-HU" sz="1700" baseline="0" dirty="0"/>
                        <a:t> két számjegye</a:t>
                      </a:r>
                      <a:endParaRPr lang="en-US" sz="1700" dirty="0"/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hu-HU" sz="1700">
                          <a:effectLst/>
                        </a:rPr>
                        <a:t>04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4734">
                <a:tc>
                  <a:txBody>
                    <a:bodyPr/>
                    <a:lstStyle/>
                    <a:p>
                      <a:pPr fontAlgn="ctr"/>
                      <a:r>
                        <a:rPr lang="hu-HU" sz="1700">
                          <a:effectLst/>
                        </a:rPr>
                        <a:t>C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Év első két számjegye</a:t>
                      </a:r>
                      <a:endParaRPr lang="en-US" sz="1700" dirty="0"/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hu-HU" sz="1700">
                          <a:effectLst/>
                        </a:rPr>
                        <a:t>20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277">
                <a:tc>
                  <a:txBody>
                    <a:bodyPr/>
                    <a:lstStyle/>
                    <a:p>
                      <a:r>
                        <a:rPr lang="hu-HU" sz="1700"/>
                        <a:t>B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/>
                        <a:t>Teljes hónap neve</a:t>
                      </a:r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700" dirty="0" err="1"/>
                        <a:t>February</a:t>
                      </a:r>
                      <a:endParaRPr lang="hu-HU" sz="1700" dirty="0"/>
                    </a:p>
                  </a:txBody>
                  <a:tcPr marL="87824" marR="87824" marT="43910" marB="43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ím 1">
            <a:extLst>
              <a:ext uri="{FF2B5EF4-FFF2-40B4-BE49-F238E27FC236}">
                <a16:creationId xmlns:a16="http://schemas.microsoft.com/office/drawing/2014/main" id="{ACC40D4E-C0FB-421F-AA27-0B27AD47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Dátumok kiírása printf 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41C724-935F-4C19-9F0B-D0C86A2E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hu-HU" dirty="0"/>
              <a:t>A </a:t>
            </a:r>
            <a:r>
              <a:rPr lang="hu-HU" dirty="0" err="1"/>
              <a:t>string</a:t>
            </a:r>
            <a:r>
              <a:rPr lang="hu-HU" dirty="0"/>
              <a:t> paraméterben megadhatjuk, hogy hányadik paramétert akarjuk formázni.</a:t>
            </a:r>
          </a:p>
          <a:p>
            <a:pPr>
              <a:defRPr/>
            </a:pPr>
            <a:r>
              <a:rPr lang="hu-HU" dirty="0"/>
              <a:t>Pl. </a:t>
            </a:r>
          </a:p>
          <a:p>
            <a:pPr lvl="1">
              <a:defRPr/>
            </a:pPr>
            <a:r>
              <a:rPr lang="hu-HU" dirty="0"/>
              <a:t>%2$tY - jelenti, hogy a második paramétert akarjuk formázni, ami dátum típusú (t) és az évet (Y) akarjuk kiírni.</a:t>
            </a:r>
          </a:p>
          <a:p>
            <a:pPr marL="0" indent="0">
              <a:buNone/>
              <a:defRPr/>
            </a:pPr>
            <a:endParaRPr lang="hu-H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("%1$s %2$tY %2$tB, %2$td \n", 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Dátum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:", d);</a:t>
            </a:r>
            <a:endParaRPr lang="hu-H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endParaRPr lang="hu-H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hu-H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Output: </a:t>
            </a:r>
          </a:p>
          <a:p>
            <a:pPr marL="0" indent="0">
              <a:buNone/>
              <a:defRPr/>
            </a:pPr>
            <a:r>
              <a:rPr lang="hu-H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Dátum: 2016 November,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ím 1">
            <a:extLst>
              <a:ext uri="{FF2B5EF4-FFF2-40B4-BE49-F238E27FC236}">
                <a16:creationId xmlns:a16="http://schemas.microsoft.com/office/drawing/2014/main" id="{6A2743AE-D382-4DB7-9F02-ADB09C0A8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Gregorian naptár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FF657E-8A41-4F70-BF38-D860AD104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hu-HU" dirty="0" err="1"/>
              <a:t>Calendar</a:t>
            </a:r>
            <a:r>
              <a:rPr lang="hu-HU" dirty="0"/>
              <a:t> absztrakt osztály a dátumok kezelésére.</a:t>
            </a:r>
          </a:p>
          <a:p>
            <a:pPr>
              <a:defRPr/>
            </a:pPr>
            <a:r>
              <a:rPr lang="hu-HU" dirty="0" err="1"/>
              <a:t>Calendar</a:t>
            </a:r>
            <a:r>
              <a:rPr lang="hu-HU" dirty="0"/>
              <a:t> osztály példányosítása</a:t>
            </a:r>
          </a:p>
          <a:p>
            <a:pPr marL="0" indent="0">
              <a:buNone/>
              <a:defRPr/>
            </a:pPr>
            <a:endParaRPr lang="hu-HU" dirty="0"/>
          </a:p>
          <a:p>
            <a:pPr marL="346075" lvl="1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SimpleDateFormat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346075" lvl="1" indent="0">
              <a:buNone/>
              <a:defRPr/>
            </a:pP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SimpleDateFormat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yyyy-MMM-dd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HH:mm: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346075" lvl="1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Calendar.getInstance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46075" lvl="1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sdf.format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calendar.getTime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()));</a:t>
            </a:r>
          </a:p>
          <a:p>
            <a:pPr lvl="1">
              <a:defRPr/>
            </a:pPr>
            <a:endParaRPr lang="hu-HU" dirty="0"/>
          </a:p>
          <a:p>
            <a:pPr>
              <a:defRPr/>
            </a:pP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ím 1">
            <a:extLst>
              <a:ext uri="{FF2B5EF4-FFF2-40B4-BE49-F238E27FC236}">
                <a16:creationId xmlns:a16="http://schemas.microsoft.com/office/drawing/2014/main" id="{95B65EF1-65EF-4A2D-94DD-E58EF76A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Dátum adatok lekérdezése</a:t>
            </a:r>
          </a:p>
        </p:txBody>
      </p:sp>
      <p:sp>
        <p:nvSpPr>
          <p:cNvPr id="15363" name="Tartalom helye 2">
            <a:extLst>
              <a:ext uri="{FF2B5EF4-FFF2-40B4-BE49-F238E27FC236}">
                <a16:creationId xmlns:a16="http://schemas.microsoft.com/office/drawing/2014/main" id="{A001F700-7111-4D1C-AC54-7FAF62D8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calendar.get(Calendar.YEAR);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calendar.get(Calendar.MONTH);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calendar.get(Calendar.DAY_OF_MONTH);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calendar.get(Calendar.DAY_OF_WEEK);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calendar.get(Calendar.WEEK_OF_YEAR);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calendar.get(Calendar.WEEK_OF_MONTH);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calendar.get(Calendar.HOUR); // 12 hour clock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calendar.get(Calendar.HOUR_OF_DAY); // 24 hour clock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calendar.get(Calendar.MINUTE);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calendar.get(Calendar.SECOND);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calendar.get(Calendar.MILLISECOND);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ím 1">
            <a:extLst>
              <a:ext uri="{FF2B5EF4-FFF2-40B4-BE49-F238E27FC236}">
                <a16:creationId xmlns:a16="http://schemas.microsoft.com/office/drawing/2014/main" id="{D0B109D2-7E8F-4ED2-8BF7-F2F56B98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Dátum adatok beállítása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5B672A-1AF6-4B03-8B89-8E97B1090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//Dátum év, hó nap, beállítása</a:t>
            </a:r>
          </a:p>
          <a:p>
            <a:pPr marL="0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Calendar.set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(2014.11.12);</a:t>
            </a:r>
          </a:p>
          <a:p>
            <a:pPr marL="0" indent="0">
              <a:buNone/>
              <a:defRPr/>
            </a:pPr>
            <a:endParaRPr lang="hu-H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//év, hó nap külön állítása</a:t>
            </a:r>
          </a:p>
          <a:p>
            <a:pPr marL="0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calendar.set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Calendar.YEAR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2014);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calendar.set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Calendar.MONTH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11); // Jan = 0,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11 </a:t>
            </a:r>
          </a:p>
          <a:p>
            <a:pPr marL="0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calendar.set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Calendar.MINUTE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33);</a:t>
            </a:r>
          </a:p>
          <a:p>
            <a:pPr marL="0" indent="0">
              <a:buNone/>
              <a:defRPr/>
            </a:pPr>
            <a:endParaRPr lang="hu-H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//dátum beállítása másik dátummal</a:t>
            </a:r>
          </a:p>
          <a:p>
            <a:pPr marL="0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 =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  <a:defRPr/>
            </a:pPr>
            <a:r>
              <a:rPr lang="hu-H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calendar.setTime</a:t>
            </a:r>
            <a:r>
              <a:rPr lang="hu-H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(d);</a:t>
            </a:r>
          </a:p>
          <a:p>
            <a:pPr>
              <a:defRPr/>
            </a:pPr>
            <a:endParaRPr lang="hu-HU" dirty="0"/>
          </a:p>
          <a:p>
            <a:pPr>
              <a:defRPr/>
            </a:pP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ím 1">
            <a:extLst>
              <a:ext uri="{FF2B5EF4-FFF2-40B4-BE49-F238E27FC236}">
                <a16:creationId xmlns:a16="http://schemas.microsoft.com/office/drawing/2014/main" id="{AA15023C-7362-4452-8697-AE802165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Dátumok összehasonlítása</a:t>
            </a:r>
          </a:p>
        </p:txBody>
      </p:sp>
      <p:sp>
        <p:nvSpPr>
          <p:cNvPr id="17411" name="Tartalom helye 2">
            <a:extLst>
              <a:ext uri="{FF2B5EF4-FFF2-40B4-BE49-F238E27FC236}">
                <a16:creationId xmlns:a16="http://schemas.microsoft.com/office/drawing/2014/main" id="{E5AAD0BF-B05A-4B61-93F5-936A1CDFD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hu-HU" altLang="hu-HU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Calendar calendar = Calendar.getInstance();</a:t>
            </a:r>
          </a:p>
          <a:p>
            <a:pPr marL="0" indent="0">
              <a:buNone/>
            </a:pP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calendar.set(Calendar.YEAR, 2025);</a:t>
            </a:r>
          </a:p>
          <a:p>
            <a:pPr marL="0" indent="0">
              <a:buNone/>
            </a:pP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Calendar past = Calendar.getInstance();</a:t>
            </a:r>
          </a:p>
          <a:p>
            <a:pPr marL="0" indent="0">
              <a:buNone/>
            </a:pP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past.set(Calendar.YEAR, 1995);</a:t>
            </a:r>
          </a:p>
          <a:p>
            <a:pPr marL="0" indent="0">
              <a:buNone/>
            </a:pPr>
            <a:endParaRPr lang="hu-HU" altLang="hu-HU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//true vagy false</a:t>
            </a:r>
          </a:p>
          <a:p>
            <a:pPr marL="0" indent="0">
              <a:buNone/>
            </a:pPr>
            <a:r>
              <a:rPr lang="hu-HU" altLang="hu-HU" b="1">
                <a:latin typeface="Courier New" panose="02070309020205020404" pitchFamily="49" charset="0"/>
                <a:cs typeface="Courier New" panose="02070309020205020404" pitchFamily="49" charset="0"/>
              </a:rPr>
              <a:t>calendar.before(past)</a:t>
            </a: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altLang="hu-HU" b="1">
                <a:latin typeface="Courier New" panose="02070309020205020404" pitchFamily="49" charset="0"/>
                <a:cs typeface="Courier New" panose="02070309020205020404" pitchFamily="49" charset="0"/>
              </a:rPr>
              <a:t>calendar.after(past)</a:t>
            </a:r>
            <a:r>
              <a:rPr lang="hu-HU" altLang="hu-HU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altLang="hu-HU" b="1">
                <a:latin typeface="Courier New" panose="02070309020205020404" pitchFamily="49" charset="0"/>
                <a:cs typeface="Courier New" panose="02070309020205020404" pitchFamily="49" charset="0"/>
              </a:rPr>
              <a:t>calendar.equals(past);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ím 1">
            <a:extLst>
              <a:ext uri="{FF2B5EF4-FFF2-40B4-BE49-F238E27FC236}">
                <a16:creationId xmlns:a16="http://schemas.microsoft.com/office/drawing/2014/main" id="{090E18D4-0A58-4C8E-BC76-1D5D5F26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/>
              <a:t>Összeadás, kivonás</a:t>
            </a:r>
          </a:p>
        </p:txBody>
      </p:sp>
      <p:sp>
        <p:nvSpPr>
          <p:cNvPr id="18435" name="Tartalom helye 2">
            <a:extLst>
              <a:ext uri="{FF2B5EF4-FFF2-40B4-BE49-F238E27FC236}">
                <a16:creationId xmlns:a16="http://schemas.microsoft.com/office/drawing/2014/main" id="{99DAA650-44DB-48C4-94AD-C0216244A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SimpleDateFormat sdf =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	new SimpleDateFormat("yyyy MMM dd"); </a:t>
            </a:r>
          </a:p>
          <a:p>
            <a:pPr marL="0" indent="0">
              <a:buNone/>
            </a:pP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 calendar = new GregorianCalendar(2013,10,28); System.out.println(sdf.format(calendar.getTime())); </a:t>
            </a:r>
          </a:p>
          <a:p>
            <a:pPr marL="0" indent="0">
              <a:buNone/>
            </a:pP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//egy hónap hozzáadása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calendar.add(Calendar.MONTH, 1); </a:t>
            </a:r>
          </a:p>
          <a:p>
            <a:pPr marL="0" indent="0">
              <a:buNone/>
            </a:pPr>
            <a:endParaRPr lang="hu-HU" altLang="hu-HU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//10 nap levonása </a:t>
            </a:r>
          </a:p>
          <a:p>
            <a:pPr marL="0" indent="0">
              <a:buNone/>
            </a:pPr>
            <a:r>
              <a:rPr lang="hu-HU" altLang="hu-HU" sz="2000">
                <a:latin typeface="Courier New" panose="02070309020205020404" pitchFamily="49" charset="0"/>
                <a:cs typeface="Courier New" panose="02070309020205020404" pitchFamily="49" charset="0"/>
              </a:rPr>
              <a:t>calendar.add(Calendar.DAY_OF_MONTH, -10); System.out.println(sdf.format(calendar.getTime()));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774</Words>
  <Application>Microsoft Office PowerPoint</Application>
  <PresentationFormat>Szélesvásznú</PresentationFormat>
  <Paragraphs>269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Times New Roman</vt:lpstr>
      <vt:lpstr>Verdana</vt:lpstr>
      <vt:lpstr>Office Theme</vt:lpstr>
      <vt:lpstr>Szöveg formázás printf</vt:lpstr>
      <vt:lpstr>printf width</vt:lpstr>
      <vt:lpstr>printf precision</vt:lpstr>
      <vt:lpstr>Dátum és idő </vt:lpstr>
      <vt:lpstr>Dátum típus</vt:lpstr>
      <vt:lpstr>Date metódusok 1.</vt:lpstr>
      <vt:lpstr>Date metódusok 2.</vt:lpstr>
      <vt:lpstr>Dátumok formázása</vt:lpstr>
      <vt:lpstr>Formátum kódok</vt:lpstr>
      <vt:lpstr>Adott dátum megadása</vt:lpstr>
      <vt:lpstr>Eltelt napok száma</vt:lpstr>
      <vt:lpstr>Dátumok kiírása printf 2</vt:lpstr>
      <vt:lpstr>printf paraméterek</vt:lpstr>
      <vt:lpstr>Dátumok kiírása printf 2</vt:lpstr>
      <vt:lpstr>Gregorian naptár</vt:lpstr>
      <vt:lpstr>Dátum adatok lekérdezése</vt:lpstr>
      <vt:lpstr>Dátum adatok beállítása</vt:lpstr>
      <vt:lpstr>Dátumok összehasonlítása</vt:lpstr>
      <vt:lpstr>Összeadás, kivonás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Dátum és idő</dc:title>
  <dc:creator>dávid Wuncs</dc:creator>
  <cp:lastModifiedBy>Wuncs Dávid</cp:lastModifiedBy>
  <cp:revision>6</cp:revision>
  <dcterms:created xsi:type="dcterms:W3CDTF">2020-11-08T23:53:29Z</dcterms:created>
  <dcterms:modified xsi:type="dcterms:W3CDTF">2023-04-24T09:12:39Z</dcterms:modified>
</cp:coreProperties>
</file>